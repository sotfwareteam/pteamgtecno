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516" r:id="rId2"/>
    <p:sldId id="499" r:id="rId3"/>
    <p:sldId id="514" r:id="rId4"/>
    <p:sldId id="508" r:id="rId5"/>
    <p:sldId id="515" r:id="rId6"/>
    <p:sldId id="511" r:id="rId7"/>
    <p:sldId id="520" r:id="rId8"/>
    <p:sldId id="519" r:id="rId9"/>
    <p:sldId id="527" r:id="rId10"/>
    <p:sldId id="517" r:id="rId1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AA00"/>
    <a:srgbClr val="766363"/>
    <a:srgbClr val="FFF5EA"/>
    <a:srgbClr val="00324D"/>
    <a:srgbClr val="FF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2C4FF7-E7CB-4AC4-7B59-C2A3AFD11B58}" v="137" dt="2024-09-21T01:46:34.7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04"/>
    <p:restoredTop sz="86369"/>
  </p:normalViewPr>
  <p:slideViewPr>
    <p:cSldViewPr snapToGrid="0">
      <p:cViewPr varScale="1">
        <p:scale>
          <a:sx n="59" d="100"/>
          <a:sy n="59" d="100"/>
        </p:scale>
        <p:origin x="42" y="9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10/12/2024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10/12/2024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B25968F-984F-8BF4-4FF0-2432A9923E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7833" y="317431"/>
            <a:ext cx="811391" cy="79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828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10/12/2024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10/12/2024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10/12/2024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10/12/2024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10/12/2024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10/12/2024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Patrón de fondo&#10;&#10;Descripción generada automáticamente">
            <a:extLst>
              <a:ext uri="{FF2B5EF4-FFF2-40B4-BE49-F238E27FC236}">
                <a16:creationId xmlns:a16="http://schemas.microsoft.com/office/drawing/2014/main" id="{EDE1298D-A4F7-F1E4-F1B3-3D2F5117E0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9B39820-C822-5D71-439D-76D8E95C16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54859" y="303050"/>
            <a:ext cx="855785" cy="83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3603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10/12/2024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10/12/2024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3" r:id="rId13"/>
    <p:sldLayoutId id="2147483675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hyperlink" Target="../MongoDB/mongo.txt" TargetMode="External"/><Relationship Id="rId4" Type="http://schemas.openxmlformats.org/officeDocument/2006/relationships/hyperlink" Target="../Base%20_De_Datos%20sq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../ProyectoDanceSchudueler" TargetMode="Externa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github.com/SotfwareTeam/Pteamgtecno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B78A6207-2D79-A9F8-E09D-30C60C0067DF}"/>
              </a:ext>
            </a:extLst>
          </p:cNvPr>
          <p:cNvSpPr txBox="1"/>
          <p:nvPr/>
        </p:nvSpPr>
        <p:spPr>
          <a:xfrm>
            <a:off x="2461832" y="2050710"/>
            <a:ext cx="726833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7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DanceScheduler</a:t>
            </a:r>
            <a:endParaRPr lang="es-CO" sz="7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Work Sans Light" pitchFamily="2" charset="77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093B0CC-07FB-12E7-E7C8-581324B7AF33}"/>
              </a:ext>
            </a:extLst>
          </p:cNvPr>
          <p:cNvCxnSpPr>
            <a:cxnSpLocks/>
          </p:cNvCxnSpPr>
          <p:nvPr/>
        </p:nvCxnSpPr>
        <p:spPr>
          <a:xfrm>
            <a:off x="5227899" y="3321934"/>
            <a:ext cx="173620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9FA07BD2-A8DB-FF10-1E30-572887632351}"/>
              </a:ext>
            </a:extLst>
          </p:cNvPr>
          <p:cNvSpPr txBox="1"/>
          <p:nvPr/>
        </p:nvSpPr>
        <p:spPr>
          <a:xfrm>
            <a:off x="4168816" y="3463724"/>
            <a:ext cx="38543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Juan Peña</a:t>
            </a:r>
          </a:p>
          <a:p>
            <a:pPr algn="ctr"/>
            <a:r>
              <a:rPr lang="es-MX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Camilo Triana</a:t>
            </a:r>
          </a:p>
          <a:p>
            <a:pPr algn="ctr"/>
            <a:r>
              <a:rPr lang="es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Miguel Roldan</a:t>
            </a:r>
            <a:endParaRPr lang="es-E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Work Sans Light" pitchFamily="2" charset="77"/>
            </a:endParaRPr>
          </a:p>
          <a:p>
            <a:pPr algn="ctr"/>
            <a:r>
              <a:rPr lang="es-E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Miguel Montaño</a:t>
            </a:r>
          </a:p>
          <a:p>
            <a:pPr algn="ctr"/>
            <a:endParaRPr lang="es-CO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Work Sans Light" pitchFamily="2" charset="77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F385990-7F30-A8ED-0FEA-F8EAC01BD49D}"/>
              </a:ext>
            </a:extLst>
          </p:cNvPr>
          <p:cNvSpPr txBox="1"/>
          <p:nvPr/>
        </p:nvSpPr>
        <p:spPr>
          <a:xfrm>
            <a:off x="1068888" y="5279998"/>
            <a:ext cx="1005422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Servicio Nacional de Aprendizaje –SENA, Centro de Electricidad Electrónica y Telecomunicaciones</a:t>
            </a:r>
          </a:p>
          <a:p>
            <a:pPr algn="ctr"/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Técnico en Programación de Software - TPS, Tercer Trimestre</a:t>
            </a:r>
          </a:p>
          <a:p>
            <a:pPr algn="ctr"/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/>
              </a:rPr>
              <a:t>Bogotá, 10</a:t>
            </a:r>
            <a:r>
              <a:rPr lang="es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/>
              </a:rPr>
              <a:t> </a:t>
            </a:r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/>
              </a:rPr>
              <a:t>de Diciembre de 202</a:t>
            </a:r>
            <a:r>
              <a:rPr lang="es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/>
              </a:rPr>
              <a:t>4</a:t>
            </a:r>
            <a:endParaRPr lang="es-CO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Work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59533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A97DC05-4A6B-3E0B-D2C7-E6FB8FE7B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9" y="-68162"/>
            <a:ext cx="10491486" cy="6994324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65FDE73-C641-1100-C209-6B5902DCC3EC}"/>
              </a:ext>
            </a:extLst>
          </p:cNvPr>
          <p:cNvSpPr/>
          <p:nvPr/>
        </p:nvSpPr>
        <p:spPr>
          <a:xfrm>
            <a:off x="1157468" y="1006821"/>
            <a:ext cx="2939970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E37A3CD-1BAC-6175-4755-9AC66A46B6FF}"/>
              </a:ext>
            </a:extLst>
          </p:cNvPr>
          <p:cNvSpPr txBox="1">
            <a:spLocks/>
          </p:cNvSpPr>
          <p:nvPr/>
        </p:nvSpPr>
        <p:spPr>
          <a:xfrm>
            <a:off x="1157468" y="677465"/>
            <a:ext cx="351474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600" dirty="0">
                <a:solidFill>
                  <a:srgbClr val="38AA00"/>
                </a:solidFill>
                <a:latin typeface="Work Sans Light" pitchFamily="2" charset="77"/>
              </a:rPr>
              <a:t>Introducción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AA83CA-F5E1-3945-40AB-1CB1B233A0BF}"/>
              </a:ext>
            </a:extLst>
          </p:cNvPr>
          <p:cNvSpPr txBox="1"/>
          <p:nvPr/>
        </p:nvSpPr>
        <p:spPr>
          <a:xfrm>
            <a:off x="987654" y="1687550"/>
            <a:ext cx="385436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Work Sans Light" pitchFamily="2" charset="77"/>
              </a:rPr>
              <a:t>En el vibrante mundo de la danza, la gestión eficiente del tiempo y los recursos es esencial para el éxito tanto de los profesores como de los estudiantes. Con ese fin, surge </a:t>
            </a:r>
            <a:r>
              <a:rPr lang="es-CO" sz="1600" dirty="0" err="1">
                <a:latin typeface="Work Sans Light" pitchFamily="2" charset="77"/>
              </a:rPr>
              <a:t>DanceScheduler</a:t>
            </a:r>
            <a:r>
              <a:rPr lang="es-CO" sz="1600" dirty="0">
                <a:latin typeface="Work Sans Light" pitchFamily="2" charset="77"/>
              </a:rPr>
              <a:t>, un sistema de información web diseñado para simplificar el agendamiento de clases en escuelas de baile y envió de notificaciones más específicamente de la escuela de baile LN7.</a:t>
            </a:r>
          </a:p>
          <a:p>
            <a:r>
              <a:rPr lang="es-CO" sz="1600" dirty="0">
                <a:latin typeface="Work Sans Light" pitchFamily="2" charset="77"/>
              </a:rPr>
              <a:t>La siguiente presentación describirá la situación de ln7, se mostrarán los entregables dispuestos para este trimestre </a:t>
            </a:r>
          </a:p>
        </p:txBody>
      </p:sp>
    </p:spTree>
    <p:extLst>
      <p:ext uri="{BB962C8B-B14F-4D97-AF65-F5344CB8AC3E}">
        <p14:creationId xmlns:p14="http://schemas.microsoft.com/office/powerpoint/2010/main" val="685387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667BF4-5FEC-525B-D073-551537177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51" y="142703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Contextualización  </a:t>
            </a:r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031F80C-2B5F-87CE-7E90-10AE507D30AB}"/>
              </a:ext>
            </a:extLst>
          </p:cNvPr>
          <p:cNvSpPr txBox="1"/>
          <p:nvPr/>
        </p:nvSpPr>
        <p:spPr>
          <a:xfrm>
            <a:off x="456236" y="2026252"/>
            <a:ext cx="1144729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sz="2000" dirty="0">
              <a:latin typeface="Work Sans Light" pitchFamily="2" charset="77"/>
            </a:endParaRPr>
          </a:p>
          <a:p>
            <a:r>
              <a:rPr lang="es-MX" sz="2000" dirty="0">
                <a:latin typeface="Work Sans Light" pitchFamily="2" charset="77"/>
              </a:rPr>
              <a:t>“LN7 DANCE ESTUDIO” ubicada en el norte de la ciudad de Bogotá, la cual es una academia dedicada a ofrecer cursos de baile; en donde a</a:t>
            </a:r>
            <a:r>
              <a:rPr lang="es-CO" sz="2000" dirty="0" err="1">
                <a:latin typeface="Work Sans Light" pitchFamily="2" charset="77"/>
              </a:rPr>
              <a:t>ctualmente</a:t>
            </a:r>
            <a:r>
              <a:rPr lang="es-CO" sz="2000" dirty="0">
                <a:latin typeface="Work Sans Light" pitchFamily="2" charset="77"/>
              </a:rPr>
              <a:t>, el proceso de organización de clases en la empresa presenta varios problemas. La falta de un sistema eficiente para la programación y reprogramación de horarios genera confusión, con clases desorganizadas y mal gestionadas. Además, se han identificado dificultades en el seguimiento de la asistencia y en la gestión de recordatorios para los clientes, lo que resulta en olvidos frecuentes y una falta de control sobre la participación en las clases. Estos problemas complican la administración y afectan la calidad del servicio ofrecido</a:t>
            </a:r>
            <a:r>
              <a:rPr lang="es-MX" sz="2000" dirty="0">
                <a:latin typeface="Work Sans Light" pitchFamily="2" charset="77"/>
              </a:rPr>
              <a:t>, para comprender todo su funcionamiento se utilizaron técnicas e instrumentos de recolección de datos como la entrevista, encuesta y observación directa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latin typeface="Work San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67152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65FDE73-C641-1100-C209-6B5902DCC3EC}"/>
              </a:ext>
            </a:extLst>
          </p:cNvPr>
          <p:cNvSpPr/>
          <p:nvPr/>
        </p:nvSpPr>
        <p:spPr>
          <a:xfrm>
            <a:off x="1314043" y="593940"/>
            <a:ext cx="3527266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E37A3CD-1BAC-6175-4755-9AC66A46B6FF}"/>
              </a:ext>
            </a:extLst>
          </p:cNvPr>
          <p:cNvSpPr txBox="1">
            <a:spLocks/>
          </p:cNvSpPr>
          <p:nvPr/>
        </p:nvSpPr>
        <p:spPr>
          <a:xfrm>
            <a:off x="1039184" y="310961"/>
            <a:ext cx="4076985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200" dirty="0">
                <a:solidFill>
                  <a:srgbClr val="38AA00"/>
                </a:solidFill>
                <a:latin typeface="Work Sans Light" pitchFamily="2" charset="77"/>
              </a:rPr>
              <a:t>Objetivo General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AA83CA-F5E1-3945-40AB-1CB1B233A0BF}"/>
              </a:ext>
            </a:extLst>
          </p:cNvPr>
          <p:cNvSpPr txBox="1"/>
          <p:nvPr/>
        </p:nvSpPr>
        <p:spPr>
          <a:xfrm>
            <a:off x="556218" y="1286827"/>
            <a:ext cx="50429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Work Sans Light" pitchFamily="2" charset="77"/>
              </a:rPr>
              <a:t>Desarrollar un aplicativo web intuitivo y eficiente para el agendamiento de clases en una escuela de baile, facilitando la gestión de horarios y recursos tanto para profesores como para estudiantes, mejorando la organización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7F90470-2942-22C6-7A33-F7E8E2D7C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9" y="-68162"/>
            <a:ext cx="10491486" cy="6994324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5CB49A8-7161-5037-729C-90C8765D1574}"/>
              </a:ext>
            </a:extLst>
          </p:cNvPr>
          <p:cNvSpPr/>
          <p:nvPr/>
        </p:nvSpPr>
        <p:spPr>
          <a:xfrm>
            <a:off x="484946" y="3146130"/>
            <a:ext cx="4166093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02FD35A-EA47-F375-CD6A-B61F8B61B3AD}"/>
              </a:ext>
            </a:extLst>
          </p:cNvPr>
          <p:cNvSpPr txBox="1">
            <a:spLocks/>
          </p:cNvSpPr>
          <p:nvPr/>
        </p:nvSpPr>
        <p:spPr>
          <a:xfrm>
            <a:off x="574055" y="2888203"/>
            <a:ext cx="4076985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dirty="0">
                <a:solidFill>
                  <a:srgbClr val="38AA00"/>
                </a:solidFill>
                <a:latin typeface="Work Sans Light" pitchFamily="2" charset="77"/>
              </a:rPr>
              <a:t>Objetivo Específicos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C78F7BD-2A34-855F-15C3-306C2603A128}"/>
              </a:ext>
            </a:extLst>
          </p:cNvPr>
          <p:cNvSpPr txBox="1"/>
          <p:nvPr/>
        </p:nvSpPr>
        <p:spPr>
          <a:xfrm>
            <a:off x="764324" y="3660486"/>
            <a:ext cx="483481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>
                <a:latin typeface="Work Sans Light" pitchFamily="2" charset="77"/>
              </a:rPr>
              <a:t>Gestionar usuarios de la academia de baile LN7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>
                <a:latin typeface="Work Sans Light" pitchFamily="2" charset="77"/>
              </a:rPr>
              <a:t>Gestionar el agendamiento de las clases de la academia de baile LN7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>
                <a:latin typeface="Work Sans Light" pitchFamily="2" charset="77"/>
              </a:rPr>
              <a:t>Generar notificaciones de clases a los clientes de la academia de baile LN7</a:t>
            </a:r>
            <a:endParaRPr lang="es-MX" sz="1600" dirty="0">
              <a:latin typeface="Work Sans Ligh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Gestionar eventos especiales de la </a:t>
            </a:r>
            <a:r>
              <a:rPr lang="es-CO" sz="1600" dirty="0">
                <a:latin typeface="Work Sans Light" pitchFamily="2" charset="77"/>
              </a:rPr>
              <a:t>academia de baile LN7</a:t>
            </a:r>
          </a:p>
        </p:txBody>
      </p:sp>
    </p:spTree>
    <p:extLst>
      <p:ext uri="{BB962C8B-B14F-4D97-AF65-F5344CB8AC3E}">
        <p14:creationId xmlns:p14="http://schemas.microsoft.com/office/powerpoint/2010/main" val="591205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Solución planteada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EC5FDC4-9A2A-F31D-6455-7D47B1B835F3}"/>
              </a:ext>
            </a:extLst>
          </p:cNvPr>
          <p:cNvSpPr txBox="1">
            <a:spLocks/>
          </p:cNvSpPr>
          <p:nvPr/>
        </p:nvSpPr>
        <p:spPr>
          <a:xfrm>
            <a:off x="9775121" y="510142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Work Sans Light" pitchFamily="2" charset="77"/>
              </a:rPr>
              <a:t>Logo Empresa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372353" y="1676759"/>
            <a:ext cx="11447293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>
                <a:latin typeface="Work Sans Light" pitchFamily="2" charset="77"/>
              </a:rPr>
              <a:t>Para abordar los problemas actuales de gestión y organización, se propone desarrollar un sistema  integral que facilite la administración de clases y horarios. El sistema estará diseñado para ofrecer las siguientes funcionalidades clave: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dirty="0">
                <a:latin typeface="Work Sans Light" pitchFamily="2" charset="77"/>
              </a:rPr>
              <a:t>Optimización de la Programación de Clases: El aplicativo permitirá una programación más  práctica y eficiente de las clases, simplificando la asignación y reorganización de horarios.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dirty="0">
                <a:latin typeface="Work Sans Light" pitchFamily="2" charset="77"/>
              </a:rPr>
              <a:t>Gestión de Horarios: Se optimizará la gestión de horarios para evitar conflictos y mejorar la  coordinación de clases.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dirty="0">
                <a:latin typeface="Work Sans Light" pitchFamily="2" charset="77"/>
              </a:rPr>
              <a:t>Automatización de Recordatorios y Notificaciones: El aplicativo automatizará el envío de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dirty="0">
                <a:latin typeface="Work Sans Light" pitchFamily="2" charset="77"/>
              </a:rPr>
              <a:t>recordatorios y notificaciones a los clientes para reducir los olvidos y mejorar la asistencia.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dirty="0">
                <a:latin typeface="Work Sans Light" pitchFamily="2" charset="77"/>
              </a:rPr>
              <a:t>Ingreso de Datos del Cliente: El aplicativo le permitirá ingresar los datos básicos de un cliente,  como nombre, correo electrónico, numero de documento y teléfono de contacto.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dirty="0">
                <a:latin typeface="Work Sans Light" pitchFamily="2" charset="77"/>
              </a:rPr>
              <a:t>Almacenamiento de Información: Todos los datos ingresados se guardarán de manera segura en una base de datos.</a:t>
            </a:r>
          </a:p>
          <a:p>
            <a:endParaRPr lang="es-MX" sz="1600" b="1" dirty="0">
              <a:latin typeface="Work Sans Light" pitchFamily="2" charset="77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98FA482-7E24-7D5B-C14D-B7E93288E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3059" y="214400"/>
            <a:ext cx="1122062" cy="111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33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>
            <a:normAutofit/>
          </a:bodyPr>
          <a:lstStyle/>
          <a:p>
            <a:r>
              <a:rPr lang="es-CO" sz="4000" dirty="0">
                <a:solidFill>
                  <a:schemeClr val="bg1"/>
                </a:solidFill>
                <a:latin typeface="Work Sans Medium" pitchFamily="2" charset="77"/>
              </a:rPr>
              <a:t>Alcance durante esta presentación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EC5FDC4-9A2A-F31D-6455-7D47B1B835F3}"/>
              </a:ext>
            </a:extLst>
          </p:cNvPr>
          <p:cNvSpPr txBox="1">
            <a:spLocks/>
          </p:cNvSpPr>
          <p:nvPr/>
        </p:nvSpPr>
        <p:spPr>
          <a:xfrm>
            <a:off x="9775121" y="510142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Work Sans Light" pitchFamily="2" charset="77"/>
              </a:rPr>
              <a:t>Logo Empresa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372353" y="1667521"/>
            <a:ext cx="11447293" cy="31700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2400" dirty="0">
                <a:latin typeface="Work Sans Light" pitchFamily="2" charset="77"/>
              </a:rPr>
              <a:t>Durante esta presentación abordaremos necesidades para continuar con el proyecto, los alcanzables serán:</a:t>
            </a:r>
          </a:p>
          <a:p>
            <a:pPr marL="457200" indent="-457200">
              <a:buAutoNum type="arabicPeriod"/>
            </a:pPr>
            <a:r>
              <a:rPr lang="es-CO" sz="2400" b="1" dirty="0">
                <a:latin typeface="Work Sans Light"/>
              </a:rPr>
              <a:t>Visualización de las bases de Datos (mongo DB y SQL) </a:t>
            </a:r>
            <a:endParaRPr lang="es-CO" sz="2400" dirty="0">
              <a:latin typeface="Work Sans Light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s-MX" sz="2400" b="1" dirty="0" err="1">
                <a:latin typeface="Work Sans Light"/>
              </a:rPr>
              <a:t>Password</a:t>
            </a:r>
            <a:r>
              <a:rPr lang="es-MX" sz="2400" b="1" dirty="0">
                <a:latin typeface="Work Sans Light"/>
              </a:rPr>
              <a:t> o contraseñas contemplan encriptación de datos</a:t>
            </a:r>
            <a:r>
              <a:rPr lang="es-CO" sz="2400" b="1" dirty="0">
                <a:latin typeface="Work Sans Light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400" b="1" dirty="0">
                <a:latin typeface="Work Sans Light"/>
              </a:rPr>
              <a:t>Se evidencia en el proyecto la realización del </a:t>
            </a:r>
            <a:r>
              <a:rPr lang="es-MX" sz="2400" b="1" dirty="0" err="1">
                <a:latin typeface="Work Sans Light"/>
              </a:rPr>
              <a:t>FrontEnd</a:t>
            </a:r>
            <a:r>
              <a:rPr lang="es-MX" sz="2400" b="1" dirty="0">
                <a:latin typeface="Work Sans Light"/>
              </a:rPr>
              <a:t>, utilizando un Framework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MX" sz="2400" b="1" dirty="0">
                <a:latin typeface="Work Sans Light"/>
              </a:rPr>
              <a:t>CRUD </a:t>
            </a:r>
            <a:r>
              <a:rPr lang="es-MX" sz="2400" b="1" dirty="0" err="1">
                <a:latin typeface="Work Sans Light"/>
              </a:rPr>
              <a:t>Operations</a:t>
            </a:r>
            <a:r>
              <a:rPr lang="es-MX" sz="2400" b="1" dirty="0">
                <a:latin typeface="Work Sans Light"/>
              </a:rPr>
              <a:t> y </a:t>
            </a:r>
            <a:r>
              <a:rPr lang="es-MX" sz="2400" b="1" dirty="0" err="1">
                <a:latin typeface="Work Sans Light"/>
              </a:rPr>
              <a:t>aggregations</a:t>
            </a:r>
            <a:r>
              <a:rPr lang="es-MX" sz="2400" b="1" dirty="0">
                <a:latin typeface="Work Sans Light"/>
              </a:rPr>
              <a:t>.</a:t>
            </a:r>
            <a:endParaRPr lang="es-CO" sz="2400" b="1" dirty="0">
              <a:latin typeface="Work Sans Light"/>
            </a:endParaRPr>
          </a:p>
          <a:p>
            <a:pPr marL="457200" indent="-457200">
              <a:buAutoNum type="arabicPeriod"/>
            </a:pPr>
            <a:r>
              <a:rPr lang="es-CO" sz="2400" b="1" dirty="0">
                <a:latin typeface="Work Sans Light"/>
              </a:rPr>
              <a:t>Git </a:t>
            </a:r>
            <a:r>
              <a:rPr lang="es-CO" sz="2400" b="1" dirty="0" err="1">
                <a:latin typeface="Work Sans Light"/>
              </a:rPr>
              <a:t>hub</a:t>
            </a:r>
            <a:endParaRPr lang="es-CO" sz="2400" b="1" dirty="0">
              <a:latin typeface="Work Sans Light" pitchFamily="2" charset="77"/>
            </a:endParaRPr>
          </a:p>
          <a:p>
            <a:endParaRPr lang="es-MX" sz="1600" dirty="0">
              <a:latin typeface="Work Sans Light" pitchFamily="2" charset="77"/>
            </a:endParaRPr>
          </a:p>
          <a:p>
            <a:endParaRPr lang="es-MX" sz="1600" b="1" dirty="0">
              <a:latin typeface="Work Sans Light" pitchFamily="2" charset="77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872E060-0443-9B36-63F8-4C0958AA3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8743" y="214400"/>
            <a:ext cx="1122062" cy="111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793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Convertir rápidamente código SQL a un lenguaje de código específico de un  cliente">
            <a:extLst>
              <a:ext uri="{FF2B5EF4-FFF2-40B4-BE49-F238E27FC236}">
                <a16:creationId xmlns:a16="http://schemas.microsoft.com/office/drawing/2014/main" id="{2C57B855-FB66-49FF-8395-D45307F2AB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63964">
            <a:off x="5657229" y="4272531"/>
            <a:ext cx="6782503" cy="2144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ómo realizar una conexión de base de datos de MongoDB con Node.js –  Node.js y MongoDB">
            <a:extLst>
              <a:ext uri="{FF2B5EF4-FFF2-40B4-BE49-F238E27FC236}">
                <a16:creationId xmlns:a16="http://schemas.microsoft.com/office/drawing/2014/main" id="{12E67005-361C-4792-BAAC-4DCE86794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33238">
            <a:off x="5865436" y="172765"/>
            <a:ext cx="5142078" cy="3282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65FDE73-C641-1100-C209-6B5902DCC3EC}"/>
              </a:ext>
            </a:extLst>
          </p:cNvPr>
          <p:cNvSpPr/>
          <p:nvPr/>
        </p:nvSpPr>
        <p:spPr>
          <a:xfrm>
            <a:off x="953922" y="874075"/>
            <a:ext cx="4095750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E37A3CD-1BAC-6175-4755-9AC66A46B6FF}"/>
              </a:ext>
            </a:extLst>
          </p:cNvPr>
          <p:cNvSpPr txBox="1">
            <a:spLocks/>
          </p:cNvSpPr>
          <p:nvPr/>
        </p:nvSpPr>
        <p:spPr>
          <a:xfrm>
            <a:off x="859252" y="607694"/>
            <a:ext cx="4294816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200" dirty="0">
                <a:solidFill>
                  <a:srgbClr val="38AA00"/>
                </a:solidFill>
                <a:latin typeface="Work Sans Light" pitchFamily="2" charset="77"/>
              </a:rPr>
              <a:t>Bases de datos 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D5DEA13-BE00-4AAC-8504-F54CBD40141C}"/>
              </a:ext>
            </a:extLst>
          </p:cNvPr>
          <p:cNvSpPr/>
          <p:nvPr/>
        </p:nvSpPr>
        <p:spPr>
          <a:xfrm>
            <a:off x="953922" y="2617602"/>
            <a:ext cx="4095750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2298460-2BBD-4B4C-9AF4-B5C0928BBC32}"/>
              </a:ext>
            </a:extLst>
          </p:cNvPr>
          <p:cNvSpPr txBox="1">
            <a:spLocks/>
          </p:cNvSpPr>
          <p:nvPr/>
        </p:nvSpPr>
        <p:spPr>
          <a:xfrm>
            <a:off x="859252" y="2351221"/>
            <a:ext cx="4294816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200" dirty="0">
                <a:solidFill>
                  <a:srgbClr val="38AA00"/>
                </a:solidFill>
                <a:latin typeface="Work Sans Light" pitchFamily="2" charset="77"/>
              </a:rPr>
              <a:t>SQL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82103CA-C5E4-47D0-92B5-B0F8463FE242}"/>
              </a:ext>
            </a:extLst>
          </p:cNvPr>
          <p:cNvSpPr/>
          <p:nvPr/>
        </p:nvSpPr>
        <p:spPr>
          <a:xfrm>
            <a:off x="1058318" y="4539005"/>
            <a:ext cx="4095750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3F59B746-1200-406C-A005-1B8A453E8619}"/>
              </a:ext>
            </a:extLst>
          </p:cNvPr>
          <p:cNvSpPr txBox="1">
            <a:spLocks/>
          </p:cNvSpPr>
          <p:nvPr/>
        </p:nvSpPr>
        <p:spPr>
          <a:xfrm>
            <a:off x="963648" y="4272624"/>
            <a:ext cx="4294816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200" dirty="0">
                <a:solidFill>
                  <a:srgbClr val="38AA00"/>
                </a:solidFill>
                <a:latin typeface="Work Sans Light" pitchFamily="2" charset="77"/>
              </a:rPr>
              <a:t>MONGO DB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B092B4E-D731-4DDD-B338-E31E323464B5}"/>
              </a:ext>
            </a:extLst>
          </p:cNvPr>
          <p:cNvSpPr txBox="1"/>
          <p:nvPr/>
        </p:nvSpPr>
        <p:spPr>
          <a:xfrm>
            <a:off x="2673021" y="3429000"/>
            <a:ext cx="65755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000" dirty="0">
                <a:latin typeface="Agency FB" panose="020B0503020202020204" pitchFamily="34" charset="0"/>
                <a:hlinkClick r:id="rId4" action="ppaction://hlinkfile"/>
              </a:rPr>
              <a:t>Link</a:t>
            </a:r>
            <a:endParaRPr lang="es-MX" sz="3000" dirty="0">
              <a:latin typeface="Agency FB" panose="020B0503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01BDEA3-6B9A-4A95-A8E0-A8AA589A5593}"/>
              </a:ext>
            </a:extLst>
          </p:cNvPr>
          <p:cNvSpPr txBox="1"/>
          <p:nvPr/>
        </p:nvSpPr>
        <p:spPr>
          <a:xfrm>
            <a:off x="2673021" y="5462153"/>
            <a:ext cx="65755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000" dirty="0">
                <a:latin typeface="Agency FB" panose="020B0503020202020204" pitchFamily="34" charset="0"/>
                <a:hlinkClick r:id="rId5" action="ppaction://hlinkfile"/>
              </a:rPr>
              <a:t>Link</a:t>
            </a:r>
            <a:endParaRPr lang="es-MX" sz="3000" dirty="0">
              <a:latin typeface="Agency FB" panose="020B0503020202020204" pitchFamily="34" charset="0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61DB0582-0B9C-446A-99FC-6CAEFB67A6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755106">
            <a:off x="6189855" y="1871033"/>
            <a:ext cx="5717252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894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65FDE73-C641-1100-C209-6B5902DCC3EC}"/>
              </a:ext>
            </a:extLst>
          </p:cNvPr>
          <p:cNvSpPr/>
          <p:nvPr/>
        </p:nvSpPr>
        <p:spPr>
          <a:xfrm>
            <a:off x="953922" y="1101217"/>
            <a:ext cx="4095750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E37A3CD-1BAC-6175-4755-9AC66A46B6FF}"/>
              </a:ext>
            </a:extLst>
          </p:cNvPr>
          <p:cNvSpPr txBox="1">
            <a:spLocks/>
          </p:cNvSpPr>
          <p:nvPr/>
        </p:nvSpPr>
        <p:spPr>
          <a:xfrm>
            <a:off x="859252" y="834836"/>
            <a:ext cx="4294816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200" dirty="0">
                <a:solidFill>
                  <a:srgbClr val="38AA00"/>
                </a:solidFill>
                <a:latin typeface="Work Sans Light" pitchFamily="2" charset="77"/>
              </a:rPr>
              <a:t>Proyecto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AA83CA-F5E1-3945-40AB-1CB1B233A0BF}"/>
              </a:ext>
            </a:extLst>
          </p:cNvPr>
          <p:cNvSpPr txBox="1"/>
          <p:nvPr/>
        </p:nvSpPr>
        <p:spPr>
          <a:xfrm>
            <a:off x="2355721" y="1871507"/>
            <a:ext cx="50429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dirty="0">
                <a:latin typeface="Work Sans Light" pitchFamily="2" charset="77"/>
                <a:hlinkClick r:id="rId2" action="ppaction://hlinkfile"/>
              </a:rPr>
              <a:t>Link</a:t>
            </a:r>
            <a:endParaRPr lang="es-CO" sz="3000" dirty="0">
              <a:latin typeface="Work Sans Light" pitchFamily="2" charset="77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A52A0EC-F95F-4CD4-B7E9-FD7773F2B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943" y="0"/>
            <a:ext cx="8179340" cy="7014866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1EFBE4A3-6ED4-4917-9C1D-7A98D2468DBD}"/>
              </a:ext>
            </a:extLst>
          </p:cNvPr>
          <p:cNvSpPr/>
          <p:nvPr/>
        </p:nvSpPr>
        <p:spPr>
          <a:xfrm>
            <a:off x="1058318" y="3057598"/>
            <a:ext cx="4095750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8601DDF-66A6-4B9B-867E-BC4D8F75DC27}"/>
              </a:ext>
            </a:extLst>
          </p:cNvPr>
          <p:cNvSpPr txBox="1">
            <a:spLocks/>
          </p:cNvSpPr>
          <p:nvPr/>
        </p:nvSpPr>
        <p:spPr>
          <a:xfrm>
            <a:off x="963648" y="2791217"/>
            <a:ext cx="4294816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200" dirty="0">
                <a:solidFill>
                  <a:srgbClr val="38AA00"/>
                </a:solidFill>
                <a:latin typeface="Work Sans Light" pitchFamily="2" charset="77"/>
              </a:rPr>
              <a:t>Tecnologías 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57B556F-0AFF-49D6-A9A9-4F2D67184CF2}"/>
              </a:ext>
            </a:extLst>
          </p:cNvPr>
          <p:cNvSpPr txBox="1"/>
          <p:nvPr/>
        </p:nvSpPr>
        <p:spPr>
          <a:xfrm>
            <a:off x="1590992" y="3833527"/>
            <a:ext cx="3286187" cy="1631216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500" dirty="0" err="1"/>
              <a:t>Vue</a:t>
            </a:r>
            <a:endParaRPr lang="es-MX" sz="2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500" dirty="0" err="1"/>
              <a:t>Javascript</a:t>
            </a:r>
            <a:endParaRPr lang="es-MX" sz="2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500" dirty="0" err="1"/>
              <a:t>Sql</a:t>
            </a:r>
            <a:endParaRPr lang="es-MX" sz="2500" dirty="0"/>
          </a:p>
          <a:p>
            <a:endParaRPr lang="es-MX" sz="2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500" dirty="0" err="1"/>
              <a:t>Css</a:t>
            </a:r>
            <a:endParaRPr lang="es-MX" sz="2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500" dirty="0" err="1"/>
              <a:t>Php</a:t>
            </a:r>
            <a:r>
              <a:rPr lang="es-MX" sz="2500" dirty="0"/>
              <a:t> </a:t>
            </a:r>
            <a:endParaRPr lang="es-CO" sz="2500" dirty="0"/>
          </a:p>
        </p:txBody>
      </p:sp>
    </p:spTree>
    <p:extLst>
      <p:ext uri="{BB962C8B-B14F-4D97-AF65-F5344CB8AC3E}">
        <p14:creationId xmlns:p14="http://schemas.microsoft.com/office/powerpoint/2010/main" val="500218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65FDE73-C641-1100-C209-6B5902DCC3EC}"/>
              </a:ext>
            </a:extLst>
          </p:cNvPr>
          <p:cNvSpPr/>
          <p:nvPr/>
        </p:nvSpPr>
        <p:spPr>
          <a:xfrm>
            <a:off x="669320" y="1110397"/>
            <a:ext cx="4380352" cy="3380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E37A3CD-1BAC-6175-4755-9AC66A46B6FF}"/>
              </a:ext>
            </a:extLst>
          </p:cNvPr>
          <p:cNvSpPr txBox="1">
            <a:spLocks/>
          </p:cNvSpPr>
          <p:nvPr/>
        </p:nvSpPr>
        <p:spPr>
          <a:xfrm>
            <a:off x="390322" y="825999"/>
            <a:ext cx="4883810" cy="67659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200" dirty="0">
                <a:solidFill>
                  <a:srgbClr val="38AA00"/>
                </a:solidFill>
                <a:latin typeface="Work Sans Light"/>
              </a:rPr>
              <a:t>Git </a:t>
            </a:r>
            <a:r>
              <a:rPr lang="es-CO" sz="3200" dirty="0" err="1">
                <a:solidFill>
                  <a:srgbClr val="38AA00"/>
                </a:solidFill>
                <a:latin typeface="Work Sans Light"/>
              </a:rPr>
              <a:t>hub</a:t>
            </a:r>
            <a:endParaRPr lang="es-CO" sz="3200" dirty="0" err="1">
              <a:solidFill>
                <a:srgbClr val="38AA00"/>
              </a:solidFill>
              <a:latin typeface="Work Sans Light" pitchFamily="2" charset="77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AA83CA-F5E1-3945-40AB-1CB1B233A0BF}"/>
              </a:ext>
            </a:extLst>
          </p:cNvPr>
          <p:cNvSpPr txBox="1"/>
          <p:nvPr/>
        </p:nvSpPr>
        <p:spPr>
          <a:xfrm>
            <a:off x="1832999" y="2160867"/>
            <a:ext cx="20529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dirty="0">
                <a:latin typeface="Work Sans Light" pitchFamily="2" charset="77"/>
                <a:hlinkClick r:id="rId2"/>
              </a:rPr>
              <a:t>Repositório </a:t>
            </a:r>
            <a:endParaRPr lang="pt-BR" sz="3000" dirty="0">
              <a:latin typeface="Work Sans Light" pitchFamily="2" charset="77"/>
            </a:endParaRPr>
          </a:p>
          <a:p>
            <a:endParaRPr lang="es-CO" sz="3000" dirty="0">
              <a:latin typeface="Work Sans Light" pitchFamily="2" charset="77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95CF6AA-5A2A-4D3F-B4C1-078E76086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902" y="-86479"/>
            <a:ext cx="7037670" cy="713696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B333C85-3713-45A2-AC40-30398842F29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875" t="53681" r="52723" b="21905"/>
          <a:stretch/>
        </p:blipFill>
        <p:spPr>
          <a:xfrm>
            <a:off x="5163975" y="4759"/>
            <a:ext cx="7037670" cy="283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680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A01EB75E-8874-42DD-11A3-2D5CA1D23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2203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4647</TotalTime>
  <Words>596</Words>
  <Application>Microsoft Office PowerPoint</Application>
  <PresentationFormat>Panorámica</PresentationFormat>
  <Paragraphs>54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Agency FB</vt:lpstr>
      <vt:lpstr>Arial</vt:lpstr>
      <vt:lpstr>Calibri</vt:lpstr>
      <vt:lpstr>Calibri Light</vt:lpstr>
      <vt:lpstr>Work Sans Light</vt:lpstr>
      <vt:lpstr>Work Sans Medium</vt:lpstr>
      <vt:lpstr>Tema de Office</vt:lpstr>
      <vt:lpstr>Presentación de PowerPoint</vt:lpstr>
      <vt:lpstr>Presentación de PowerPoint</vt:lpstr>
      <vt:lpstr>Contextualización  </vt:lpstr>
      <vt:lpstr>Presentación de PowerPoint</vt:lpstr>
      <vt:lpstr>Solución planteada </vt:lpstr>
      <vt:lpstr>Alcance durante esta presentación 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DELL</cp:lastModifiedBy>
  <cp:revision>149</cp:revision>
  <dcterms:created xsi:type="dcterms:W3CDTF">2020-10-01T23:51:28Z</dcterms:created>
  <dcterms:modified xsi:type="dcterms:W3CDTF">2024-12-10T18:31:45Z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