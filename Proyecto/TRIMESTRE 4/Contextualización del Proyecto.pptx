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16" r:id="rId2"/>
    <p:sldId id="499" r:id="rId3"/>
    <p:sldId id="514" r:id="rId4"/>
    <p:sldId id="508" r:id="rId5"/>
    <p:sldId id="515" r:id="rId6"/>
    <p:sldId id="511" r:id="rId7"/>
    <p:sldId id="520" r:id="rId8"/>
    <p:sldId id="519" r:id="rId9"/>
    <p:sldId id="528" r:id="rId10"/>
    <p:sldId id="529" r:id="rId11"/>
    <p:sldId id="527" r:id="rId12"/>
    <p:sldId id="51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C4FF7-E7CB-4AC4-7B59-C2A3AFD11B58}" v="137" dt="2024-09-21T01:46:3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96" d="100"/>
          <a:sy n="96" d="100"/>
        </p:scale>
        <p:origin x="102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3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../../Frontend%20-%20we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odelo%20de%20calidad/Resultado%20-%20Lista%20de%20chequeo%20producto%20software.pdf" TargetMode="External"/><Relationship Id="rId2" Type="http://schemas.openxmlformats.org/officeDocument/2006/relationships/hyperlink" Target="Modelo%20de%20calidad/Lista%20de%20chequeo%20producto%20software.pdf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SotfwareTeam/Pteamgtecno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2461832" y="2050710"/>
            <a:ext cx="7268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7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DanceScheduler</a:t>
            </a:r>
            <a:endParaRPr lang="es-CO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Juan Peña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Camilo </a:t>
            </a:r>
            <a:r>
              <a:rPr lang="es-MX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Perez</a:t>
            </a:r>
            <a:endParaRPr lang="es-MX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Miguel Montaño</a:t>
            </a:r>
          </a:p>
          <a:p>
            <a:pPr algn="ctr"/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Tercer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Bogotá, 10</a:t>
            </a:r>
            <a:r>
              <a:rPr lang="es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 </a:t>
            </a:r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de Diciembre de 202</a:t>
            </a:r>
            <a:r>
              <a:rPr lang="es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4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95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97DC05-4A6B-3E0B-D2C7-E6FB8FE7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157468" y="1006821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157468" y="677465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987654" y="1687550"/>
            <a:ext cx="38543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En el vibrante mundo de la danza, la gestión eficiente del tiempo y los recursos es esencial para el éxito tanto de los profesores como de los estudiantes. Con ese fin, surge </a:t>
            </a:r>
            <a:r>
              <a:rPr lang="es-CO" sz="1600" dirty="0" err="1">
                <a:latin typeface="Work Sans Light" pitchFamily="2" charset="77"/>
              </a:rPr>
              <a:t>DanceScheduler</a:t>
            </a:r>
            <a:r>
              <a:rPr lang="es-CO" sz="1600" dirty="0">
                <a:latin typeface="Work Sans Light" pitchFamily="2" charset="77"/>
              </a:rPr>
              <a:t>, un sistema de información web diseñado para simplificar el agendamiento de clases en escuelas de baile y envió de notificaciones más específicamente de la escuela de baile LN7.</a:t>
            </a:r>
          </a:p>
          <a:p>
            <a:r>
              <a:rPr lang="es-CO" sz="1600" dirty="0">
                <a:latin typeface="Work Sans Light" pitchFamily="2" charset="77"/>
              </a:rPr>
              <a:t>La siguiente presentación describirá la situación de ln7, se mostrarán los entregables dispuestos para este trimestre </a:t>
            </a: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67BF4-5FEC-525B-D073-55153717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1" y="142703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Contextualización  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31F80C-2B5F-87CE-7E90-10AE507D30AB}"/>
              </a:ext>
            </a:extLst>
          </p:cNvPr>
          <p:cNvSpPr txBox="1"/>
          <p:nvPr/>
        </p:nvSpPr>
        <p:spPr>
          <a:xfrm>
            <a:off x="456236" y="2026252"/>
            <a:ext cx="11447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2000" dirty="0">
              <a:latin typeface="Work Sans Light" pitchFamily="2" charset="77"/>
            </a:endParaRPr>
          </a:p>
          <a:p>
            <a:r>
              <a:rPr lang="es-MX" sz="2000" dirty="0">
                <a:latin typeface="Work Sans Light" pitchFamily="2" charset="77"/>
              </a:rPr>
              <a:t>“LN7 DANCE ESTUDIO” ubicada en el norte de la ciudad de Bogotá, la cual es una academia dedicada a ofrecer cursos de baile; en donde a</a:t>
            </a:r>
            <a:r>
              <a:rPr lang="es-CO" sz="2000" dirty="0" err="1">
                <a:latin typeface="Work Sans Light" pitchFamily="2" charset="77"/>
              </a:rPr>
              <a:t>ctualmente</a:t>
            </a:r>
            <a:r>
              <a:rPr lang="es-CO" sz="2000" dirty="0">
                <a:latin typeface="Work Sans Light" pitchFamily="2" charset="77"/>
              </a:rPr>
              <a:t>, el proceso de organización de clases en la empresa presenta varios problemas. La falta de un sistema eficiente para la programación y reprogramación de horarios genera confusión, con clases desorganizadas y mal gestionadas. Además, se han identificado dificultades en el seguimiento de la asistencia y en la gestión de recordatorios para los clientes, lo que resulta en olvidos frecuentes y una falta de control sobre la participación en las clases. Estos problemas complican la administración y afectan la calidad del servicio ofrecido</a:t>
            </a:r>
            <a:r>
              <a:rPr lang="es-MX" sz="2000" dirty="0">
                <a:latin typeface="Work Sans Light" pitchFamily="2" charset="77"/>
              </a:rPr>
              <a:t>, para comprender todo su funcionamiento se utilizaron técnicas e instrumentos de recolección de datos como la entrevista, encuesta y observación directa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6715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56218" y="1286827"/>
            <a:ext cx="50429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Desarrollar un aplicativo web intuitivo y eficiente para el agendamiento de clases en una escuela de baile, facilitando la gestión de horarios y recursos tanto para profesores como para estudiantes, mejorando la organización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F90470-2942-22C6-7A33-F7E8E2D7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4324" y="3660486"/>
            <a:ext cx="483481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Gestionar usuarios de la academia de baile LN7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Gestionar el agendamiento de las clases de la academia de baile LN7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Generar notificaciones de clases a los clientes de la academia de baile LN7</a:t>
            </a: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eventos especiales de la </a:t>
            </a:r>
            <a:r>
              <a:rPr lang="es-CO" sz="1600" dirty="0">
                <a:latin typeface="Work Sans Light" pitchFamily="2" charset="77"/>
              </a:rPr>
              <a:t>academia de baile LN7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Solución planteada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76759"/>
            <a:ext cx="1144729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Work Sans Light" pitchFamily="2" charset="77"/>
              </a:rPr>
              <a:t>Para abordar los problemas actuales de gestión y organización, se propone desarrollar un sistema  integral que facilite la administración de clases y horarios. El sistema estará diseñado para ofrecer las siguientes funcionalidades clave: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Optimización de la Programación de Clases: El aplicativo permitirá una programación más  práctica y eficiente de las clases, simplificando la asignación y reorganización de horarios.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Gestión de Horarios: Se optimizará la gestión de horarios para evitar conflictos y mejorar la  coordinación de clases.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Automatización de Recordatorios y Notificaciones: El aplicativo automatizará el envío 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recordatorios y notificaciones a los clientes para reducir los olvidos y mejorar la asistencia.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Ingreso de Datos del Cliente: El aplicativo le permitirá ingresar los datos básicos de un cliente,  como nombre, correo electrónico, numero de documento y teléfono de contacto.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Almacenamiento de Información: Todos los datos ingresados se guardarán de manera segura en una base de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Siguiendo regimientos de </a:t>
            </a:r>
            <a:r>
              <a:rPr lang="es-CO" sz="2000" dirty="0" err="1">
                <a:latin typeface="Work Sans Light" pitchFamily="2" charset="77"/>
              </a:rPr>
              <a:t>de</a:t>
            </a:r>
            <a:r>
              <a:rPr lang="es-CO" sz="2000" dirty="0">
                <a:latin typeface="Work Sans Light" pitchFamily="2" charset="77"/>
              </a:rPr>
              <a:t> la metodología ágil elegida </a:t>
            </a:r>
            <a:r>
              <a:rPr lang="es-CO" sz="2000">
                <a:latin typeface="Work Sans Light" pitchFamily="2" charset="77"/>
              </a:rPr>
              <a:t>(Scrum)</a:t>
            </a:r>
            <a:endParaRPr lang="es-CO" sz="2000" dirty="0">
              <a:latin typeface="Work Sans Light" pitchFamily="2" charset="77"/>
            </a:endParaRPr>
          </a:p>
          <a:p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98FA482-7E24-7D5B-C14D-B7E93288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059" y="214400"/>
            <a:ext cx="1122062" cy="11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CO" sz="4000" dirty="0">
                <a:solidFill>
                  <a:schemeClr val="bg1"/>
                </a:solidFill>
                <a:latin typeface="Work Sans Medium" pitchFamily="2" charset="77"/>
              </a:rPr>
              <a:t>Alcance durante esta presentación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dirty="0">
                <a:latin typeface="Work Sans Light" pitchFamily="2" charset="77"/>
              </a:rPr>
              <a:t>Durante esta presentación abordaremos necesidades para continuar con el proyecto, los alcanzables serán:</a:t>
            </a:r>
          </a:p>
          <a:p>
            <a:endParaRPr lang="es-CO" sz="2400" dirty="0">
              <a:latin typeface="Work Sans Light" pitchFamily="2" charset="77"/>
            </a:endParaRPr>
          </a:p>
          <a:p>
            <a:pPr marL="457200" indent="-457200">
              <a:buAutoNum type="arabicPeriod"/>
            </a:pP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Se evidencia que el </a:t>
            </a:r>
            <a:r>
              <a:rPr lang="es-ES" sz="2400" b="0" i="0" dirty="0" err="1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front</a:t>
            </a: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end</a:t>
            </a: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 web consuma la API REST</a:t>
            </a:r>
            <a:r>
              <a:rPr lang="es-CO" sz="2400" b="1" dirty="0">
                <a:latin typeface="Work Sans Light"/>
              </a:rPr>
              <a:t> </a:t>
            </a:r>
          </a:p>
          <a:p>
            <a:pPr marL="457200" indent="-457200">
              <a:buFontTx/>
              <a:buAutoNum type="arabicPeriod"/>
            </a:pP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Se evidencia la implementación de la API REST documentada ()</a:t>
            </a:r>
            <a:endParaRPr lang="es-CO" sz="2400" dirty="0">
              <a:latin typeface="Work Sans Light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dirty="0">
                <a:solidFill>
                  <a:srgbClr val="212529"/>
                </a:solidFill>
                <a:latin typeface="Verdana" panose="020B0604030504040204" pitchFamily="34" charset="0"/>
              </a:rPr>
              <a:t>Se e</a:t>
            </a: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videncia el consumo de la API </a:t>
            </a:r>
            <a:r>
              <a:rPr lang="es-ES" sz="2400" b="0" i="0" dirty="0" err="1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Rest</a:t>
            </a: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 con aplicaciones móviles.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Se evidencia la aplicación de algún modelo de calidad.</a:t>
            </a:r>
          </a:p>
          <a:p>
            <a:pPr marL="457200" indent="-457200">
              <a:buAutoNum type="arabicPeriod"/>
            </a:pPr>
            <a:r>
              <a:rPr lang="es-CO" sz="2400" b="1" dirty="0">
                <a:latin typeface="Work Sans Light"/>
              </a:rPr>
              <a:t>Git </a:t>
            </a:r>
            <a:r>
              <a:rPr lang="es-CO" sz="2400" b="1" dirty="0" err="1">
                <a:latin typeface="Work Sans Light"/>
              </a:rPr>
              <a:t>hub</a:t>
            </a:r>
            <a:endParaRPr lang="es-CO" sz="2400" b="1" dirty="0">
              <a:latin typeface="Work Sans Light" pitchFamily="2" charset="77"/>
            </a:endParaRPr>
          </a:p>
          <a:p>
            <a:endParaRPr lang="es-MX" sz="1600" dirty="0">
              <a:latin typeface="Work Sans Light" pitchFamily="2" charset="77"/>
            </a:endParaRPr>
          </a:p>
          <a:p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72E060-0443-9B36-63F8-4C0958AA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743" y="214400"/>
            <a:ext cx="1122062" cy="11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953922" y="874075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859252" y="607694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API REST :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2103CA-C5E4-47D0-92B5-B0F8463FE242}"/>
              </a:ext>
            </a:extLst>
          </p:cNvPr>
          <p:cNvSpPr/>
          <p:nvPr/>
        </p:nvSpPr>
        <p:spPr>
          <a:xfrm>
            <a:off x="953922" y="2024405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F59B746-1200-406C-A005-1B8A453E8619}"/>
              </a:ext>
            </a:extLst>
          </p:cNvPr>
          <p:cNvSpPr txBox="1">
            <a:spLocks/>
          </p:cNvSpPr>
          <p:nvPr/>
        </p:nvSpPr>
        <p:spPr>
          <a:xfrm>
            <a:off x="859252" y="1758024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  <a:hlinkClick r:id="rId2" action="ppaction://hlinkfile"/>
              </a:rPr>
              <a:t>Vue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pic>
        <p:nvPicPr>
          <p:cNvPr id="1028" name="Picture 4" descr="Why I Love CSS Modules in Vue.js">
            <a:extLst>
              <a:ext uri="{FF2B5EF4-FFF2-40B4-BE49-F238E27FC236}">
                <a16:creationId xmlns:a16="http://schemas.microsoft.com/office/drawing/2014/main" id="{A76AF726-B459-AAB2-4E52-00784FD45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356" y="1217311"/>
            <a:ext cx="7863783" cy="442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ue.js Tutorial — A Guide on Prototyping Web Apps - Shopify">
            <a:extLst>
              <a:ext uri="{FF2B5EF4-FFF2-40B4-BE49-F238E27FC236}">
                <a16:creationId xmlns:a16="http://schemas.microsoft.com/office/drawing/2014/main" id="{2652B928-562F-881A-572E-BBE0C604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554" y="2689853"/>
            <a:ext cx="7026800" cy="294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89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953922" y="1101217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859252" y="597455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Documentación API REST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2528214" y="1952221"/>
            <a:ext cx="50429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0021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BAED-86BC-08E9-3EF1-828A400D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940F0F1-43A1-F4C9-5016-0C39B59DAC5B}"/>
              </a:ext>
            </a:extLst>
          </p:cNvPr>
          <p:cNvSpPr/>
          <p:nvPr/>
        </p:nvSpPr>
        <p:spPr>
          <a:xfrm>
            <a:off x="953922" y="1101217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D450108-BE60-DEC9-954D-EC35F0EB684E}"/>
              </a:ext>
            </a:extLst>
          </p:cNvPr>
          <p:cNvSpPr txBox="1">
            <a:spLocks/>
          </p:cNvSpPr>
          <p:nvPr/>
        </p:nvSpPr>
        <p:spPr>
          <a:xfrm>
            <a:off x="859252" y="597455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Documentación API REST móvil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DA1C03-E9C6-D218-F02F-9C48501E2703}"/>
              </a:ext>
            </a:extLst>
          </p:cNvPr>
          <p:cNvSpPr txBox="1"/>
          <p:nvPr/>
        </p:nvSpPr>
        <p:spPr>
          <a:xfrm>
            <a:off x="2528214" y="1952221"/>
            <a:ext cx="50429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8862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AB50-2355-AA3E-2826-40DEE08A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DC8FFA8-E093-898A-1E25-ACB4DA03853A}"/>
              </a:ext>
            </a:extLst>
          </p:cNvPr>
          <p:cNvSpPr/>
          <p:nvPr/>
        </p:nvSpPr>
        <p:spPr>
          <a:xfrm>
            <a:off x="953922" y="1166956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20F542-C595-F5E6-2087-EDF3E2607AC3}"/>
              </a:ext>
            </a:extLst>
          </p:cNvPr>
          <p:cNvSpPr txBox="1">
            <a:spLocks/>
          </p:cNvSpPr>
          <p:nvPr/>
        </p:nvSpPr>
        <p:spPr>
          <a:xfrm>
            <a:off x="854389" y="837600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Modelo de calidad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621E03-9AE2-2696-D078-9DABF078BCFB}"/>
              </a:ext>
            </a:extLst>
          </p:cNvPr>
          <p:cNvSpPr txBox="1"/>
          <p:nvPr/>
        </p:nvSpPr>
        <p:spPr>
          <a:xfrm>
            <a:off x="2389066" y="2787108"/>
            <a:ext cx="50429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 action="ppaction://hlinkfile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8F388BC-EE45-9290-C8C2-896BF8831A93}"/>
              </a:ext>
            </a:extLst>
          </p:cNvPr>
          <p:cNvSpPr/>
          <p:nvPr/>
        </p:nvSpPr>
        <p:spPr>
          <a:xfrm>
            <a:off x="953922" y="2141710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A6342AB-81AB-6DB6-B96A-60E9AA9A5653}"/>
              </a:ext>
            </a:extLst>
          </p:cNvPr>
          <p:cNvSpPr txBox="1">
            <a:spLocks/>
          </p:cNvSpPr>
          <p:nvPr/>
        </p:nvSpPr>
        <p:spPr>
          <a:xfrm>
            <a:off x="854389" y="1812354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Presentación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C99386-57CB-17DD-F0A8-70C7397DA1CE}"/>
              </a:ext>
            </a:extLst>
          </p:cNvPr>
          <p:cNvSpPr/>
          <p:nvPr/>
        </p:nvSpPr>
        <p:spPr>
          <a:xfrm>
            <a:off x="1053455" y="3752854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7DF98F0-B76E-793F-0308-3F6A71543EB0}"/>
              </a:ext>
            </a:extLst>
          </p:cNvPr>
          <p:cNvSpPr txBox="1">
            <a:spLocks/>
          </p:cNvSpPr>
          <p:nvPr/>
        </p:nvSpPr>
        <p:spPr>
          <a:xfrm>
            <a:off x="953922" y="3423498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dirty="0">
                <a:solidFill>
                  <a:srgbClr val="38AA00"/>
                </a:solidFill>
                <a:latin typeface="Work Sans Light" pitchFamily="2" charset="77"/>
              </a:rPr>
              <a:t>Resultado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ED0378C-43FF-B71D-5517-8C59647E5DE8}"/>
              </a:ext>
            </a:extLst>
          </p:cNvPr>
          <p:cNvSpPr txBox="1"/>
          <p:nvPr/>
        </p:nvSpPr>
        <p:spPr>
          <a:xfrm>
            <a:off x="2389066" y="4337017"/>
            <a:ext cx="50429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latin typeface="Work Sans Light" pitchFamily="2" charset="77"/>
                <a:hlinkClick r:id="rId3" action="ppaction://hlinkfile"/>
              </a:rPr>
              <a:t>Link</a:t>
            </a:r>
            <a:r>
              <a:rPr lang="es-ES" sz="3000" dirty="0">
                <a:latin typeface="Work Sans Light" pitchFamily="2" charset="77"/>
              </a:rPr>
              <a:t> </a:t>
            </a:r>
            <a:endParaRPr lang="es-CO" sz="3000" dirty="0">
              <a:latin typeface="Work Sans Light" pitchFamily="2" charset="77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F034F9A-A28C-945D-7BF2-DB1CB82F7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314" y="2689697"/>
            <a:ext cx="7744906" cy="192431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D7323D-2B9C-50B0-3204-688B80B6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314" y="4028680"/>
            <a:ext cx="10097909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52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669320" y="1110397"/>
            <a:ext cx="4380352" cy="3380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390322" y="825999"/>
            <a:ext cx="4883810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/>
              </a:rPr>
              <a:t>Git </a:t>
            </a:r>
            <a:r>
              <a:rPr lang="es-CO" sz="3200" dirty="0" err="1">
                <a:solidFill>
                  <a:srgbClr val="38AA00"/>
                </a:solidFill>
                <a:latin typeface="Work Sans Light"/>
              </a:rPr>
              <a:t>hub</a:t>
            </a:r>
            <a:endParaRPr lang="es-CO" sz="3200" dirty="0" err="1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1832999" y="2160867"/>
            <a:ext cx="2330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/>
              </a:rPr>
              <a:t>Repositório </a:t>
            </a:r>
            <a:endParaRPr lang="pt-BR" sz="3000" dirty="0">
              <a:latin typeface="Work Sans Light" pitchFamily="2" charset="77"/>
            </a:endParaRPr>
          </a:p>
          <a:p>
            <a:endParaRPr lang="es-CO" sz="3000" dirty="0">
              <a:latin typeface="Work Sans Light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5CF6AA-5A2A-4D3F-B4C1-078E76086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330" y="0"/>
            <a:ext cx="7037670" cy="713696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B333C85-3713-45A2-AC40-30398842F2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875" t="53681" r="52723" b="21905"/>
          <a:stretch/>
        </p:blipFill>
        <p:spPr>
          <a:xfrm>
            <a:off x="5163975" y="4759"/>
            <a:ext cx="7037670" cy="283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80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4741</TotalTime>
  <Words>613</Words>
  <Application>Microsoft Office PowerPoint</Application>
  <PresentationFormat>Panorámica</PresentationFormat>
  <Paragraphs>52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Verdana</vt:lpstr>
      <vt:lpstr>Work Sans Light</vt:lpstr>
      <vt:lpstr>Work Sans Medium</vt:lpstr>
      <vt:lpstr>Tema de Office</vt:lpstr>
      <vt:lpstr>Presentación de PowerPoint</vt:lpstr>
      <vt:lpstr>Presentación de PowerPoint</vt:lpstr>
      <vt:lpstr>Contextualización  </vt:lpstr>
      <vt:lpstr>Presentación de PowerPoint</vt:lpstr>
      <vt:lpstr>Solución planteada </vt:lpstr>
      <vt:lpstr>Alcance durante esta presentación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Miguel Esteban Montaño Coronado</cp:lastModifiedBy>
  <cp:revision>152</cp:revision>
  <dcterms:created xsi:type="dcterms:W3CDTF">2020-10-01T23:51:28Z</dcterms:created>
  <dcterms:modified xsi:type="dcterms:W3CDTF">2025-04-23T17:30:39Z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