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516" r:id="rId2"/>
    <p:sldId id="499" r:id="rId3"/>
    <p:sldId id="514" r:id="rId4"/>
    <p:sldId id="508" r:id="rId5"/>
    <p:sldId id="515" r:id="rId6"/>
    <p:sldId id="511" r:id="rId7"/>
    <p:sldId id="520" r:id="rId8"/>
    <p:sldId id="528" r:id="rId9"/>
    <p:sldId id="529" r:id="rId10"/>
    <p:sldId id="519" r:id="rId11"/>
    <p:sldId id="527" r:id="rId12"/>
    <p:sldId id="517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AA00"/>
    <a:srgbClr val="766363"/>
    <a:srgbClr val="FFF5EA"/>
    <a:srgbClr val="00324D"/>
    <a:srgbClr val="FF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2C4FF7-E7CB-4AC4-7B59-C2A3AFD11B58}" v="137" dt="2024-09-21T01:46:34.7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5" autoAdjust="0"/>
    <p:restoredTop sz="86369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9/07/2025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9/07/2025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B25968F-984F-8BF4-4FF0-2432A9923E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27833" y="317431"/>
            <a:ext cx="811391" cy="79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828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9/07/2025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9/07/2025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9/07/2025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9/07/2025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9/07/2025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9/07/2025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9/07/2025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9/07/2025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9/07/2025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9/07/2025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9/07/2025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Patrón de fondo&#10;&#10;Descripción generada automáticamente">
            <a:extLst>
              <a:ext uri="{FF2B5EF4-FFF2-40B4-BE49-F238E27FC236}">
                <a16:creationId xmlns:a16="http://schemas.microsoft.com/office/drawing/2014/main" id="{EDE1298D-A4F7-F1E4-F1B3-3D2F5117E0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9B39820-C822-5D71-439D-76D8E95C16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54859" y="303050"/>
            <a:ext cx="855785" cy="83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3603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9/07/2025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9/07/2025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3" r:id="rId13"/>
    <p:sldLayoutId id="2147483675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../../Frontend%20-%20web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Plan%20de%20pruebas/Plan%20de%20Pruebas%20DanceSchedueler.xlsx" TargetMode="External"/><Relationship Id="rId2" Type="http://schemas.openxmlformats.org/officeDocument/2006/relationships/hyperlink" Target="M&#243;dulos%20casos%20de%20pruebas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Estimaci&#243;n/Estimacion%20QA_Software.xlsx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Manuales/Plan%20de%20capacitacion.pdf" TargetMode="External"/><Relationship Id="rId3" Type="http://schemas.openxmlformats.org/officeDocument/2006/relationships/image" Target="../media/image11.png"/><Relationship Id="rId7" Type="http://schemas.openxmlformats.org/officeDocument/2006/relationships/hyperlink" Target="Manuales/Plan%20de%20Migracion.pdf" TargetMode="External"/><Relationship Id="rId2" Type="http://schemas.openxmlformats.org/officeDocument/2006/relationships/hyperlink" Target="Manuales/Manual%20Instalacion.pdf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Manuales/Plan%20de%20respaldo.pdf" TargetMode="External"/><Relationship Id="rId5" Type="http://schemas.openxmlformats.org/officeDocument/2006/relationships/hyperlink" Target="Manuales/Manual%20Tecnico.pdf" TargetMode="External"/><Relationship Id="rId4" Type="http://schemas.openxmlformats.org/officeDocument/2006/relationships/hyperlink" Target="https://ckfuntools.com/pdf-to-jpg/" TargetMode="External"/><Relationship Id="rId9" Type="http://schemas.openxmlformats.org/officeDocument/2006/relationships/hyperlink" Target="Manuales/Manual%20Usuario.pdf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hqt8rl0q-5173.use2.devtunnels.ms/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github.com/SotfwareTeam/Pteamgtecno/network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B78A6207-2D79-A9F8-E09D-30C60C0067DF}"/>
              </a:ext>
            </a:extLst>
          </p:cNvPr>
          <p:cNvSpPr txBox="1"/>
          <p:nvPr/>
        </p:nvSpPr>
        <p:spPr>
          <a:xfrm>
            <a:off x="2461832" y="2050710"/>
            <a:ext cx="726833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72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DanceScheduler</a:t>
            </a:r>
            <a:endParaRPr lang="es-CO" sz="7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Work Sans Light" pitchFamily="2" charset="77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093B0CC-07FB-12E7-E7C8-581324B7AF33}"/>
              </a:ext>
            </a:extLst>
          </p:cNvPr>
          <p:cNvCxnSpPr>
            <a:cxnSpLocks/>
          </p:cNvCxnSpPr>
          <p:nvPr/>
        </p:nvCxnSpPr>
        <p:spPr>
          <a:xfrm>
            <a:off x="5227899" y="3321934"/>
            <a:ext cx="173620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9FA07BD2-A8DB-FF10-1E30-572887632351}"/>
              </a:ext>
            </a:extLst>
          </p:cNvPr>
          <p:cNvSpPr txBox="1"/>
          <p:nvPr/>
        </p:nvSpPr>
        <p:spPr>
          <a:xfrm>
            <a:off x="4168816" y="3463724"/>
            <a:ext cx="38543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Juan Peña</a:t>
            </a:r>
          </a:p>
          <a:p>
            <a:pPr algn="ctr"/>
            <a:r>
              <a:rPr lang="es-MX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Camilo </a:t>
            </a:r>
            <a:r>
              <a:rPr lang="es-MX" sz="1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Perez</a:t>
            </a:r>
            <a:endParaRPr lang="es-MX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Work Sans Light" pitchFamily="2" charset="77"/>
            </a:endParaRPr>
          </a:p>
          <a:p>
            <a:pPr algn="ctr"/>
            <a:r>
              <a:rPr lang="es-E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Miguel Montaño</a:t>
            </a:r>
          </a:p>
          <a:p>
            <a:pPr algn="ctr"/>
            <a:endParaRPr lang="es-CO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Work Sans Light" pitchFamily="2" charset="77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F385990-7F30-A8ED-0FEA-F8EAC01BD49D}"/>
              </a:ext>
            </a:extLst>
          </p:cNvPr>
          <p:cNvSpPr txBox="1"/>
          <p:nvPr/>
        </p:nvSpPr>
        <p:spPr>
          <a:xfrm>
            <a:off x="1068888" y="5279998"/>
            <a:ext cx="1005422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Servicio Nacional de Aprendizaje –SENA, Centro de Electricidad Electrónica y Telecomunicaciones</a:t>
            </a:r>
          </a:p>
          <a:p>
            <a:pPr algn="ctr"/>
            <a:r>
              <a:rPr lang="es-E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Técnico en Programación de Software - TPS, Quinto Trimestre</a:t>
            </a:r>
          </a:p>
          <a:p>
            <a:pPr algn="ctr"/>
            <a:r>
              <a:rPr lang="es-E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/>
              </a:rPr>
              <a:t>Bogotá, 09 de Julio de 202</a:t>
            </a:r>
            <a:r>
              <a:rPr lang="es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/>
              </a:rPr>
              <a:t>5</a:t>
            </a:r>
            <a:endParaRPr lang="es-CO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Work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659533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A97DC05-4A6B-3E0B-D2C7-E6FB8FE7B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99" y="-68162"/>
            <a:ext cx="10491486" cy="6994324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B65FDE73-C641-1100-C209-6B5902DCC3EC}"/>
              </a:ext>
            </a:extLst>
          </p:cNvPr>
          <p:cNvSpPr/>
          <p:nvPr/>
        </p:nvSpPr>
        <p:spPr>
          <a:xfrm>
            <a:off x="1157468" y="1006821"/>
            <a:ext cx="2939970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E37A3CD-1BAC-6175-4755-9AC66A46B6FF}"/>
              </a:ext>
            </a:extLst>
          </p:cNvPr>
          <p:cNvSpPr txBox="1">
            <a:spLocks/>
          </p:cNvSpPr>
          <p:nvPr/>
        </p:nvSpPr>
        <p:spPr>
          <a:xfrm>
            <a:off x="1157468" y="677465"/>
            <a:ext cx="3514740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600" dirty="0">
                <a:solidFill>
                  <a:srgbClr val="38AA00"/>
                </a:solidFill>
                <a:latin typeface="Work Sans Light" pitchFamily="2" charset="77"/>
              </a:rPr>
              <a:t>Introducción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BAA83CA-F5E1-3945-40AB-1CB1B233A0BF}"/>
              </a:ext>
            </a:extLst>
          </p:cNvPr>
          <p:cNvSpPr txBox="1"/>
          <p:nvPr/>
        </p:nvSpPr>
        <p:spPr>
          <a:xfrm>
            <a:off x="987654" y="1687550"/>
            <a:ext cx="385436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Work Sans Light" pitchFamily="2" charset="77"/>
              </a:rPr>
              <a:t>En el vibrante mundo de la danza, la gestión eficiente del tiempo y los recursos es esencial para el éxito tanto de los profesores como de los estudiantes. Con ese fin, surge </a:t>
            </a:r>
            <a:r>
              <a:rPr lang="es-CO" sz="1600" dirty="0" err="1">
                <a:latin typeface="Work Sans Light" pitchFamily="2" charset="77"/>
              </a:rPr>
              <a:t>DanceScheduler</a:t>
            </a:r>
            <a:r>
              <a:rPr lang="es-CO" sz="1600" dirty="0">
                <a:latin typeface="Work Sans Light" pitchFamily="2" charset="77"/>
              </a:rPr>
              <a:t>, un sistema de información web diseñado para simplificar el agendamiento de clases en escuelas de baile y envió de notificaciones más específicamente de la escuela de baile LN7.</a:t>
            </a:r>
          </a:p>
          <a:p>
            <a:r>
              <a:rPr lang="es-CO" sz="1600" dirty="0">
                <a:latin typeface="Work Sans Light" pitchFamily="2" charset="77"/>
              </a:rPr>
              <a:t>La siguiente presentación describirá la situación de ln7, se mostrarán los entregables dispuestos para este trimestre </a:t>
            </a:r>
          </a:p>
        </p:txBody>
      </p:sp>
    </p:spTree>
    <p:extLst>
      <p:ext uri="{BB962C8B-B14F-4D97-AF65-F5344CB8AC3E}">
        <p14:creationId xmlns:p14="http://schemas.microsoft.com/office/powerpoint/2010/main" val="685387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667BF4-5FEC-525B-D073-551537177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51" y="142703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Contextualización  </a:t>
            </a:r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031F80C-2B5F-87CE-7E90-10AE507D30AB}"/>
              </a:ext>
            </a:extLst>
          </p:cNvPr>
          <p:cNvSpPr txBox="1"/>
          <p:nvPr/>
        </p:nvSpPr>
        <p:spPr>
          <a:xfrm>
            <a:off x="456236" y="2026252"/>
            <a:ext cx="1144729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sz="2000" dirty="0">
              <a:latin typeface="Work Sans Light" pitchFamily="2" charset="77"/>
            </a:endParaRPr>
          </a:p>
          <a:p>
            <a:r>
              <a:rPr lang="es-MX" sz="2000" dirty="0">
                <a:latin typeface="Work Sans Light" pitchFamily="2" charset="77"/>
              </a:rPr>
              <a:t>“LN7 DANCE ESTUDIO” ubicada en el norte de la ciudad de Bogotá, la cual es una academia dedicada a ofrecer cursos de baile; en donde a</a:t>
            </a:r>
            <a:r>
              <a:rPr lang="es-CO" sz="2000" dirty="0" err="1">
                <a:latin typeface="Work Sans Light" pitchFamily="2" charset="77"/>
              </a:rPr>
              <a:t>ctualmente</a:t>
            </a:r>
            <a:r>
              <a:rPr lang="es-CO" sz="2000" dirty="0">
                <a:latin typeface="Work Sans Light" pitchFamily="2" charset="77"/>
              </a:rPr>
              <a:t>, el proceso de organización de clases en la empresa presenta varios problemas. La falta de un sistema eficiente para la programación y reprogramación de horarios genera confusión, con clases desorganizadas y mal gestionadas. Además, se han identificado dificultades en el seguimiento de la asistencia y en la gestión de recordatorios para los clientes, lo que resulta en olvidos frecuentes y una falta de control sobre la participación en las clases. Estos problemas complican la administración y afectan la calidad del servicio ofrecido</a:t>
            </a:r>
            <a:r>
              <a:rPr lang="es-MX" sz="2000" dirty="0">
                <a:latin typeface="Work Sans Light" pitchFamily="2" charset="77"/>
              </a:rPr>
              <a:t>, para comprender todo su funcionamiento se utilizaron técnicas e instrumentos de recolección de datos como la entrevista, encuesta y observación directa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latin typeface="Work San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67152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65FDE73-C641-1100-C209-6B5902DCC3EC}"/>
              </a:ext>
            </a:extLst>
          </p:cNvPr>
          <p:cNvSpPr/>
          <p:nvPr/>
        </p:nvSpPr>
        <p:spPr>
          <a:xfrm>
            <a:off x="1314043" y="593940"/>
            <a:ext cx="3527266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E37A3CD-1BAC-6175-4755-9AC66A46B6FF}"/>
              </a:ext>
            </a:extLst>
          </p:cNvPr>
          <p:cNvSpPr txBox="1">
            <a:spLocks/>
          </p:cNvSpPr>
          <p:nvPr/>
        </p:nvSpPr>
        <p:spPr>
          <a:xfrm>
            <a:off x="1039184" y="310961"/>
            <a:ext cx="4076985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200" dirty="0">
                <a:solidFill>
                  <a:srgbClr val="38AA00"/>
                </a:solidFill>
                <a:latin typeface="Work Sans Light" pitchFamily="2" charset="77"/>
              </a:rPr>
              <a:t>Objetivo General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BAA83CA-F5E1-3945-40AB-1CB1B233A0BF}"/>
              </a:ext>
            </a:extLst>
          </p:cNvPr>
          <p:cNvSpPr txBox="1"/>
          <p:nvPr/>
        </p:nvSpPr>
        <p:spPr>
          <a:xfrm>
            <a:off x="556218" y="1286827"/>
            <a:ext cx="50429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Work Sans Light" pitchFamily="2" charset="77"/>
              </a:rPr>
              <a:t>Desarrollar un aplicativo web intuitivo y eficiente para el agendamiento de clases en una escuela de baile, facilitando la gestión de horarios y recursos tanto para profesores como para estudiantes, mejorando la organización 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7F90470-2942-22C6-7A33-F7E8E2D7C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99" y="-68162"/>
            <a:ext cx="10491486" cy="6994324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5CB49A8-7161-5037-729C-90C8765D1574}"/>
              </a:ext>
            </a:extLst>
          </p:cNvPr>
          <p:cNvSpPr/>
          <p:nvPr/>
        </p:nvSpPr>
        <p:spPr>
          <a:xfrm>
            <a:off x="484946" y="3146130"/>
            <a:ext cx="4166093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02FD35A-EA47-F375-CD6A-B61F8B61B3AD}"/>
              </a:ext>
            </a:extLst>
          </p:cNvPr>
          <p:cNvSpPr txBox="1">
            <a:spLocks/>
          </p:cNvSpPr>
          <p:nvPr/>
        </p:nvSpPr>
        <p:spPr>
          <a:xfrm>
            <a:off x="574055" y="2888203"/>
            <a:ext cx="4076985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dirty="0">
                <a:solidFill>
                  <a:srgbClr val="38AA00"/>
                </a:solidFill>
                <a:latin typeface="Work Sans Light" pitchFamily="2" charset="77"/>
              </a:rPr>
              <a:t>Objetivo Específicos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C78F7BD-2A34-855F-15C3-306C2603A128}"/>
              </a:ext>
            </a:extLst>
          </p:cNvPr>
          <p:cNvSpPr txBox="1"/>
          <p:nvPr/>
        </p:nvSpPr>
        <p:spPr>
          <a:xfrm>
            <a:off x="764324" y="3660486"/>
            <a:ext cx="483481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>
                <a:latin typeface="Work Sans Light" pitchFamily="2" charset="77"/>
              </a:rPr>
              <a:t>Gestionar usuarios de la academia de baile LN7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>
                <a:latin typeface="Work Sans Light" pitchFamily="2" charset="77"/>
              </a:rPr>
              <a:t>Gestionar el agendamiento de las clases de la academia de baile LN7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>
                <a:latin typeface="Work Sans Light" pitchFamily="2" charset="77"/>
              </a:rPr>
              <a:t>Generar notificaciones de clases a los clientes de la academia de baile LN7</a:t>
            </a:r>
            <a:endParaRPr lang="es-MX" sz="1600" dirty="0">
              <a:latin typeface="Work Sans Ligh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Work Sans Light" pitchFamily="2" charset="77"/>
              </a:rPr>
              <a:t>Gestionar eventos especiales de la </a:t>
            </a:r>
            <a:r>
              <a:rPr lang="es-CO" sz="1600" dirty="0">
                <a:latin typeface="Work Sans Light" pitchFamily="2" charset="77"/>
              </a:rPr>
              <a:t>academia de baile LN7</a:t>
            </a:r>
          </a:p>
        </p:txBody>
      </p:sp>
    </p:spTree>
    <p:extLst>
      <p:ext uri="{BB962C8B-B14F-4D97-AF65-F5344CB8AC3E}">
        <p14:creationId xmlns:p14="http://schemas.microsoft.com/office/powerpoint/2010/main" val="591205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Solución planteada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EC5FDC4-9A2A-F31D-6455-7D47B1B835F3}"/>
              </a:ext>
            </a:extLst>
          </p:cNvPr>
          <p:cNvSpPr txBox="1">
            <a:spLocks/>
          </p:cNvSpPr>
          <p:nvPr/>
        </p:nvSpPr>
        <p:spPr>
          <a:xfrm>
            <a:off x="9775121" y="510142"/>
            <a:ext cx="1080000" cy="54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latin typeface="Work Sans Light" pitchFamily="2" charset="77"/>
              </a:rPr>
              <a:t>Logo Empresa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CA39C3C-B25E-C804-C832-61458138A925}"/>
              </a:ext>
            </a:extLst>
          </p:cNvPr>
          <p:cNvSpPr txBox="1"/>
          <p:nvPr/>
        </p:nvSpPr>
        <p:spPr>
          <a:xfrm>
            <a:off x="372353" y="1676759"/>
            <a:ext cx="11447293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dirty="0">
                <a:latin typeface="Work Sans Light" pitchFamily="2" charset="77"/>
              </a:rPr>
              <a:t>Para abordar los problemas actuales de gestión y organización, se propone desarrollar un sistema  integral que facilite la administración de clases y horarios. El sistema estará diseñado para ofrecer las siguientes funcionalidades clave: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000" dirty="0">
                <a:latin typeface="Work Sans Light" pitchFamily="2" charset="77"/>
              </a:rPr>
              <a:t>Optimización de la Programación de Clases: El aplicativo permitirá una programación más  práctica y eficiente de las clases, simplificando la asignación y reorganización de horarios.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000" dirty="0">
                <a:latin typeface="Work Sans Light" pitchFamily="2" charset="77"/>
              </a:rPr>
              <a:t>Gestión de Horarios: Se optimizará la gestión de horarios para evitar conflictos y mejorar la  coordinación de clases.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000" dirty="0">
                <a:latin typeface="Work Sans Light" pitchFamily="2" charset="77"/>
              </a:rPr>
              <a:t>Automatización de Recordatorios y Notificaciones: El aplicativo automatizará el envío de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000" dirty="0">
                <a:latin typeface="Work Sans Light" pitchFamily="2" charset="77"/>
              </a:rPr>
              <a:t>recordatorios y notificaciones a los clientes para reducir los olvidos y mejorar la asistencia.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000" dirty="0">
                <a:latin typeface="Work Sans Light" pitchFamily="2" charset="77"/>
              </a:rPr>
              <a:t>Ingreso de Datos del Cliente: El aplicativo le permitirá ingresar los datos básicos de un cliente,  como nombre, correo electrónico, numero de documento y teléfono de contacto.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000" dirty="0">
                <a:latin typeface="Work Sans Light" pitchFamily="2" charset="77"/>
              </a:rPr>
              <a:t>Almacenamiento de Información: Todos los datos ingresados se guardarán de manera segura en una base de datos.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000" dirty="0">
                <a:latin typeface="Work Sans Light" pitchFamily="2" charset="77"/>
              </a:rPr>
              <a:t>Siguiendo regimientos de </a:t>
            </a:r>
            <a:r>
              <a:rPr lang="es-CO" sz="2000" dirty="0" err="1">
                <a:latin typeface="Work Sans Light" pitchFamily="2" charset="77"/>
              </a:rPr>
              <a:t>de</a:t>
            </a:r>
            <a:r>
              <a:rPr lang="es-CO" sz="2000" dirty="0">
                <a:latin typeface="Work Sans Light" pitchFamily="2" charset="77"/>
              </a:rPr>
              <a:t> la metodología ágil elegida </a:t>
            </a:r>
            <a:r>
              <a:rPr lang="es-CO" sz="2000">
                <a:latin typeface="Work Sans Light" pitchFamily="2" charset="77"/>
              </a:rPr>
              <a:t>(Scrum)</a:t>
            </a:r>
            <a:endParaRPr lang="es-CO" sz="2000" dirty="0">
              <a:latin typeface="Work Sans Light" pitchFamily="2" charset="77"/>
            </a:endParaRPr>
          </a:p>
          <a:p>
            <a:endParaRPr lang="es-MX" sz="1600" b="1" dirty="0">
              <a:latin typeface="Work Sans Light" pitchFamily="2" charset="77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98FA482-7E24-7D5B-C14D-B7E93288E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3059" y="214400"/>
            <a:ext cx="1122062" cy="111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33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>
            <a:normAutofit/>
          </a:bodyPr>
          <a:lstStyle/>
          <a:p>
            <a:r>
              <a:rPr lang="es-CO" sz="4000" dirty="0">
                <a:solidFill>
                  <a:schemeClr val="bg1"/>
                </a:solidFill>
                <a:latin typeface="Work Sans Medium" pitchFamily="2" charset="77"/>
              </a:rPr>
              <a:t>Alcance durante esta presentación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EC5FDC4-9A2A-F31D-6455-7D47B1B835F3}"/>
              </a:ext>
            </a:extLst>
          </p:cNvPr>
          <p:cNvSpPr txBox="1">
            <a:spLocks/>
          </p:cNvSpPr>
          <p:nvPr/>
        </p:nvSpPr>
        <p:spPr>
          <a:xfrm>
            <a:off x="9775121" y="510142"/>
            <a:ext cx="1080000" cy="54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latin typeface="Work Sans Light" pitchFamily="2" charset="77"/>
              </a:rPr>
              <a:t>Logo Empresa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CA39C3C-B25E-C804-C832-61458138A925}"/>
              </a:ext>
            </a:extLst>
          </p:cNvPr>
          <p:cNvSpPr txBox="1"/>
          <p:nvPr/>
        </p:nvSpPr>
        <p:spPr>
          <a:xfrm>
            <a:off x="372353" y="1667521"/>
            <a:ext cx="11447293" cy="46474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2400" dirty="0">
                <a:latin typeface="Work Sans Light" pitchFamily="2" charset="77"/>
              </a:rPr>
              <a:t>Durante esta presentación abordaremos necesidades para continuar con el proyecto, los alcanzables serán:</a:t>
            </a:r>
          </a:p>
          <a:p>
            <a:endParaRPr lang="es-CO" sz="2400" dirty="0">
              <a:latin typeface="Work Sans Light" pitchFamily="2" charset="77"/>
            </a:endParaRPr>
          </a:p>
          <a:p>
            <a:pPr marL="457200" indent="-457200">
              <a:buAutoNum type="arabicPeriod"/>
            </a:pPr>
            <a:r>
              <a:rPr lang="es-ES" sz="2400" b="0" i="0" dirty="0">
                <a:solidFill>
                  <a:srgbClr val="212529"/>
                </a:solidFill>
                <a:effectLst/>
                <a:latin typeface="Verdana" panose="020B0604030504040204" pitchFamily="34" charset="0"/>
              </a:rPr>
              <a:t>Se evidencia que el </a:t>
            </a:r>
            <a:r>
              <a:rPr lang="es-ES" sz="2400" dirty="0">
                <a:solidFill>
                  <a:srgbClr val="212529"/>
                </a:solidFill>
                <a:latin typeface="Verdana" panose="020B0604030504040204" pitchFamily="34" charset="0"/>
              </a:rPr>
              <a:t>desarrollo del aplicativo en su totalidad</a:t>
            </a:r>
          </a:p>
          <a:p>
            <a:pPr marL="457200" indent="-457200">
              <a:buAutoNum type="arabicPeriod"/>
            </a:pPr>
            <a:r>
              <a:rPr lang="es-ES" sz="2400" b="0" i="0" dirty="0">
                <a:solidFill>
                  <a:srgbClr val="212529"/>
                </a:solidFill>
                <a:effectLst/>
                <a:latin typeface="Verdana" panose="020B0604030504040204" pitchFamily="34" charset="0"/>
              </a:rPr>
              <a:t>Se evidencia la </a:t>
            </a:r>
            <a:r>
              <a:rPr lang="es-ES" sz="2400" dirty="0">
                <a:solidFill>
                  <a:srgbClr val="212529"/>
                </a:solidFill>
                <a:latin typeface="Verdana" panose="020B0604030504040204" pitchFamily="34" charset="0"/>
              </a:rPr>
              <a:t>técnica de pruebas de software (Estimación, plan de pruebas, casos de pruebas y automatización)</a:t>
            </a:r>
            <a:endParaRPr lang="es-ES" sz="2400" b="0" i="0" dirty="0">
              <a:solidFill>
                <a:srgbClr val="212529"/>
              </a:solidFill>
              <a:effectLst/>
              <a:latin typeface="Verdana" panose="020B0604030504040204" pitchFamily="34" charset="0"/>
            </a:endParaRPr>
          </a:p>
          <a:p>
            <a:pPr marL="457200" indent="-457200">
              <a:buAutoNum type="arabicPeriod"/>
            </a:pPr>
            <a:r>
              <a:rPr lang="es-ES" sz="2400" dirty="0">
                <a:solidFill>
                  <a:srgbClr val="212529"/>
                </a:solidFill>
                <a:latin typeface="Verdana" panose="020B0604030504040204" pitchFamily="34" charset="0"/>
              </a:rPr>
              <a:t>Se e</a:t>
            </a:r>
            <a:r>
              <a:rPr lang="es-ES" sz="2400" b="0" i="0" dirty="0">
                <a:solidFill>
                  <a:srgbClr val="212529"/>
                </a:solidFill>
                <a:effectLst/>
                <a:latin typeface="Verdana" panose="020B0604030504040204" pitchFamily="34" charset="0"/>
              </a:rPr>
              <a:t>videncia </a:t>
            </a:r>
            <a:r>
              <a:rPr lang="es-ES" sz="2400" dirty="0">
                <a:solidFill>
                  <a:srgbClr val="212529"/>
                </a:solidFill>
                <a:latin typeface="Verdana" panose="020B0604030504040204" pitchFamily="34" charset="0"/>
              </a:rPr>
              <a:t>manuales y planes de instalación, respaldo, migración, capacitación, instalación, técnico y de usuario</a:t>
            </a:r>
          </a:p>
          <a:p>
            <a:pPr marL="457200" indent="-457200">
              <a:buFontTx/>
              <a:buAutoNum type="arabicPeriod"/>
            </a:pPr>
            <a:r>
              <a:rPr lang="es-ES" sz="2400" dirty="0">
                <a:solidFill>
                  <a:srgbClr val="212529"/>
                </a:solidFill>
                <a:latin typeface="Verdana" panose="020B0604030504040204" pitchFamily="34" charset="0"/>
              </a:rPr>
              <a:t>Se evidencia un despliegue de la aplicación.</a:t>
            </a:r>
            <a:endParaRPr lang="es-ES" sz="2400" b="0" i="0" dirty="0">
              <a:solidFill>
                <a:srgbClr val="212529"/>
              </a:solidFill>
              <a:effectLst/>
              <a:latin typeface="Verdana" panose="020B0604030504040204" pitchFamily="34" charset="0"/>
            </a:endParaRPr>
          </a:p>
          <a:p>
            <a:pPr marL="457200" indent="-457200">
              <a:buFontTx/>
              <a:buAutoNum type="arabicPeriod"/>
            </a:pPr>
            <a:r>
              <a:rPr lang="es-CO" sz="2400" dirty="0">
                <a:solidFill>
                  <a:srgbClr val="212529"/>
                </a:solidFill>
                <a:latin typeface="Verdana" panose="020B0604030504040204" pitchFamily="34" charset="0"/>
              </a:rPr>
              <a:t>GitHub</a:t>
            </a:r>
          </a:p>
          <a:p>
            <a:pPr marL="457200" indent="-457200">
              <a:buAutoNum type="arabicPeriod"/>
            </a:pPr>
            <a:endParaRPr lang="es-CO" sz="2400" b="1" dirty="0">
              <a:latin typeface="Work Sans Light"/>
            </a:endParaRPr>
          </a:p>
          <a:p>
            <a:endParaRPr lang="es-MX" sz="1600" dirty="0">
              <a:latin typeface="Work Sans Light" pitchFamily="2" charset="77"/>
            </a:endParaRPr>
          </a:p>
          <a:p>
            <a:endParaRPr lang="es-MX" sz="1600" b="1" dirty="0">
              <a:latin typeface="Work Sans Light" pitchFamily="2" charset="77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872E060-0443-9B36-63F8-4C0958AA3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8743" y="214400"/>
            <a:ext cx="1122062" cy="111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793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65FDE73-C641-1100-C209-6B5902DCC3EC}"/>
              </a:ext>
            </a:extLst>
          </p:cNvPr>
          <p:cNvSpPr/>
          <p:nvPr/>
        </p:nvSpPr>
        <p:spPr>
          <a:xfrm>
            <a:off x="953922" y="874075"/>
            <a:ext cx="4095750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E37A3CD-1BAC-6175-4755-9AC66A46B6FF}"/>
              </a:ext>
            </a:extLst>
          </p:cNvPr>
          <p:cNvSpPr txBox="1">
            <a:spLocks/>
          </p:cNvSpPr>
          <p:nvPr/>
        </p:nvSpPr>
        <p:spPr>
          <a:xfrm>
            <a:off x="859252" y="607694"/>
            <a:ext cx="4294816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200" dirty="0">
                <a:solidFill>
                  <a:srgbClr val="38AA00"/>
                </a:solidFill>
                <a:latin typeface="Work Sans Light" pitchFamily="2" charset="77"/>
              </a:rPr>
              <a:t>Aplicativo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82103CA-C5E4-47D0-92B5-B0F8463FE242}"/>
              </a:ext>
            </a:extLst>
          </p:cNvPr>
          <p:cNvSpPr/>
          <p:nvPr/>
        </p:nvSpPr>
        <p:spPr>
          <a:xfrm>
            <a:off x="958785" y="1415479"/>
            <a:ext cx="4095750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3F59B746-1200-406C-A005-1B8A453E8619}"/>
              </a:ext>
            </a:extLst>
          </p:cNvPr>
          <p:cNvSpPr txBox="1">
            <a:spLocks/>
          </p:cNvSpPr>
          <p:nvPr/>
        </p:nvSpPr>
        <p:spPr>
          <a:xfrm>
            <a:off x="850190" y="1217311"/>
            <a:ext cx="4294816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200" dirty="0">
                <a:solidFill>
                  <a:srgbClr val="38AA00"/>
                </a:solidFill>
                <a:latin typeface="Work Sans Light" pitchFamily="2" charset="77"/>
                <a:hlinkClick r:id="rId2" action="ppaction://hlinkfile"/>
              </a:rPr>
              <a:t>Código del aplicativo</a:t>
            </a:r>
            <a:endParaRPr lang="es-CO" sz="3200" dirty="0">
              <a:solidFill>
                <a:srgbClr val="38AA00"/>
              </a:solidFill>
              <a:latin typeface="Work Sans Light" pitchFamily="2" charset="77"/>
            </a:endParaRPr>
          </a:p>
        </p:txBody>
      </p:sp>
      <p:pic>
        <p:nvPicPr>
          <p:cNvPr id="1028" name="Picture 4" descr="Why I Love CSS Modules in Vue.js">
            <a:extLst>
              <a:ext uri="{FF2B5EF4-FFF2-40B4-BE49-F238E27FC236}">
                <a16:creationId xmlns:a16="http://schemas.microsoft.com/office/drawing/2014/main" id="{A76AF726-B459-AAB2-4E52-00784FD45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3601" y="1284292"/>
            <a:ext cx="7863783" cy="4423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Vue.js Tutorial — A Guide on Prototyping Web Apps - Shopify">
            <a:extLst>
              <a:ext uri="{FF2B5EF4-FFF2-40B4-BE49-F238E27FC236}">
                <a16:creationId xmlns:a16="http://schemas.microsoft.com/office/drawing/2014/main" id="{2652B928-562F-881A-572E-BBE0C6046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922" y="2823743"/>
            <a:ext cx="7026800" cy="2949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7894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DBAED-86BC-08E9-3EF1-828A400D1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804D2FD4-592B-8A40-934C-E1339DA45B2A}"/>
              </a:ext>
            </a:extLst>
          </p:cNvPr>
          <p:cNvSpPr/>
          <p:nvPr/>
        </p:nvSpPr>
        <p:spPr>
          <a:xfrm>
            <a:off x="950857" y="3413982"/>
            <a:ext cx="4200146" cy="5539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940F0F1-43A1-F4C9-5016-0C39B59DAC5B}"/>
              </a:ext>
            </a:extLst>
          </p:cNvPr>
          <p:cNvSpPr/>
          <p:nvPr/>
        </p:nvSpPr>
        <p:spPr>
          <a:xfrm>
            <a:off x="6112142" y="829147"/>
            <a:ext cx="4200146" cy="5539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D450108-BE60-DEC9-954D-EC35F0EB684E}"/>
              </a:ext>
            </a:extLst>
          </p:cNvPr>
          <p:cNvSpPr txBox="1">
            <a:spLocks/>
          </p:cNvSpPr>
          <p:nvPr/>
        </p:nvSpPr>
        <p:spPr>
          <a:xfrm>
            <a:off x="903522" y="3090701"/>
            <a:ext cx="4294816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dirty="0">
                <a:solidFill>
                  <a:srgbClr val="38AA00"/>
                </a:solidFill>
                <a:latin typeface="Work Sans Light" pitchFamily="2" charset="77"/>
              </a:rPr>
              <a:t>Módulos de casos de pruebas</a:t>
            </a:r>
            <a:endParaRPr lang="es-CO" sz="3200" dirty="0">
              <a:solidFill>
                <a:srgbClr val="38AA00"/>
              </a:solidFill>
              <a:latin typeface="Work Sans Light" pitchFamily="2" charset="77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5DA1C03-E9C6-D218-F02F-9C48501E2703}"/>
              </a:ext>
            </a:extLst>
          </p:cNvPr>
          <p:cNvSpPr txBox="1"/>
          <p:nvPr/>
        </p:nvSpPr>
        <p:spPr>
          <a:xfrm>
            <a:off x="2404594" y="4291261"/>
            <a:ext cx="12926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dirty="0">
                <a:latin typeface="Work Sans Light" pitchFamily="2" charset="77"/>
                <a:hlinkClick r:id="rId2" action="ppaction://hlinkfile"/>
              </a:rPr>
              <a:t>Link</a:t>
            </a:r>
            <a:endParaRPr lang="es-CO" sz="3000" dirty="0">
              <a:latin typeface="Work Sans Light" pitchFamily="2" charset="77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9F543FC-7643-DFA5-9044-706095DF4DD4}"/>
              </a:ext>
            </a:extLst>
          </p:cNvPr>
          <p:cNvSpPr txBox="1">
            <a:spLocks/>
          </p:cNvSpPr>
          <p:nvPr/>
        </p:nvSpPr>
        <p:spPr>
          <a:xfrm>
            <a:off x="6112142" y="603954"/>
            <a:ext cx="4294816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dirty="0">
                <a:solidFill>
                  <a:srgbClr val="38AA00"/>
                </a:solidFill>
                <a:latin typeface="Work Sans Light" pitchFamily="2" charset="77"/>
              </a:rPr>
              <a:t>Plan de pruebas </a:t>
            </a:r>
            <a:endParaRPr lang="es-CO" sz="3200" dirty="0">
              <a:solidFill>
                <a:srgbClr val="38AA00"/>
              </a:solidFill>
              <a:latin typeface="Work Sans Light" pitchFamily="2" charset="77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EC53332-79F4-4FC6-30B8-1EB849BE05B6}"/>
              </a:ext>
            </a:extLst>
          </p:cNvPr>
          <p:cNvSpPr/>
          <p:nvPr/>
        </p:nvSpPr>
        <p:spPr>
          <a:xfrm>
            <a:off x="903522" y="829147"/>
            <a:ext cx="4200146" cy="5539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ED07C10E-8185-22D3-E098-F32F33E21D92}"/>
              </a:ext>
            </a:extLst>
          </p:cNvPr>
          <p:cNvSpPr txBox="1">
            <a:spLocks/>
          </p:cNvSpPr>
          <p:nvPr/>
        </p:nvSpPr>
        <p:spPr>
          <a:xfrm>
            <a:off x="903522" y="532141"/>
            <a:ext cx="4294816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dirty="0">
                <a:solidFill>
                  <a:srgbClr val="38AA00"/>
                </a:solidFill>
                <a:latin typeface="Work Sans Light" pitchFamily="2" charset="77"/>
              </a:rPr>
              <a:t>Estimación de pruebas</a:t>
            </a:r>
            <a:endParaRPr lang="es-CO" sz="3200" dirty="0">
              <a:solidFill>
                <a:srgbClr val="38AA00"/>
              </a:solidFill>
              <a:latin typeface="Work Sans Light" pitchFamily="2" charset="77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1347F12-ABD9-64A5-B887-C4496ECECA25}"/>
              </a:ext>
            </a:extLst>
          </p:cNvPr>
          <p:cNvSpPr txBox="1"/>
          <p:nvPr/>
        </p:nvSpPr>
        <p:spPr>
          <a:xfrm>
            <a:off x="7613214" y="1803851"/>
            <a:ext cx="12926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dirty="0">
                <a:latin typeface="Work Sans Light" pitchFamily="2" charset="77"/>
                <a:hlinkClick r:id="rId3" action="ppaction://hlinkfile"/>
              </a:rPr>
              <a:t>Link</a:t>
            </a:r>
            <a:endParaRPr lang="es-CO" sz="3000" dirty="0">
              <a:latin typeface="Work Sans Light" pitchFamily="2" charset="77"/>
            </a:endParaRPr>
          </a:p>
        </p:txBody>
      </p:sp>
      <p:sp>
        <p:nvSpPr>
          <p:cNvPr id="9" name="CuadroTexto 8">
            <a:hlinkClick r:id="rId4" action="ppaction://hlinkfile"/>
            <a:extLst>
              <a:ext uri="{FF2B5EF4-FFF2-40B4-BE49-F238E27FC236}">
                <a16:creationId xmlns:a16="http://schemas.microsoft.com/office/drawing/2014/main" id="{9124775F-AAB1-B2D0-C67D-42E3F3C19054}"/>
              </a:ext>
            </a:extLst>
          </p:cNvPr>
          <p:cNvSpPr txBox="1"/>
          <p:nvPr/>
        </p:nvSpPr>
        <p:spPr>
          <a:xfrm>
            <a:off x="2404594" y="1803851"/>
            <a:ext cx="12926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dirty="0">
                <a:latin typeface="Work Sans Light" pitchFamily="2" charset="77"/>
                <a:hlinkClick r:id="rId4" action="ppaction://hlinkfile"/>
              </a:rPr>
              <a:t>Link</a:t>
            </a:r>
            <a:endParaRPr lang="es-CO" sz="3000" dirty="0">
              <a:latin typeface="Work Sans Light" pitchFamily="2" charset="77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6D3A9E4-CEF0-C26D-ECC4-BF4254C7A8F8}"/>
              </a:ext>
            </a:extLst>
          </p:cNvPr>
          <p:cNvSpPr/>
          <p:nvPr/>
        </p:nvSpPr>
        <p:spPr>
          <a:xfrm>
            <a:off x="6159477" y="3413982"/>
            <a:ext cx="4200146" cy="5539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8DA09814-70A2-C0A3-BF71-306293CDB619}"/>
              </a:ext>
            </a:extLst>
          </p:cNvPr>
          <p:cNvSpPr txBox="1">
            <a:spLocks/>
          </p:cNvSpPr>
          <p:nvPr/>
        </p:nvSpPr>
        <p:spPr>
          <a:xfrm>
            <a:off x="6112142" y="3090701"/>
            <a:ext cx="4294816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dirty="0">
                <a:solidFill>
                  <a:srgbClr val="38AA00"/>
                </a:solidFill>
                <a:latin typeface="Work Sans Light" pitchFamily="2" charset="77"/>
              </a:rPr>
              <a:t>Reporte de </a:t>
            </a:r>
            <a:r>
              <a:rPr lang="es-ES" sz="3200">
                <a:solidFill>
                  <a:srgbClr val="38AA00"/>
                </a:solidFill>
                <a:latin typeface="Work Sans Light" pitchFamily="2" charset="77"/>
              </a:rPr>
              <a:t>pruebas automatizadas</a:t>
            </a:r>
            <a:endParaRPr lang="es-CO" sz="3200" dirty="0">
              <a:solidFill>
                <a:srgbClr val="38AA00"/>
              </a:solidFill>
              <a:latin typeface="Work Sans Light" pitchFamily="2" charset="77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ED4FEB4-9567-19A6-3693-B388BFE41D6D}"/>
              </a:ext>
            </a:extLst>
          </p:cNvPr>
          <p:cNvSpPr txBox="1"/>
          <p:nvPr/>
        </p:nvSpPr>
        <p:spPr>
          <a:xfrm>
            <a:off x="7613214" y="4291261"/>
            <a:ext cx="12926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dirty="0">
                <a:latin typeface="Work Sans Light" pitchFamily="2" charset="77"/>
                <a:hlinkClick r:id="rId2" action="ppaction://hlinkfile"/>
              </a:rPr>
              <a:t>Link</a:t>
            </a:r>
            <a:endParaRPr lang="es-CO" sz="3000" dirty="0">
              <a:latin typeface="Work San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88628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AAB50-2355-AA3E-2826-40DEE08A3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4DC8FFA8-E093-898A-1E25-ACB4DA03853A}"/>
              </a:ext>
            </a:extLst>
          </p:cNvPr>
          <p:cNvSpPr/>
          <p:nvPr/>
        </p:nvSpPr>
        <p:spPr>
          <a:xfrm>
            <a:off x="4203308" y="726083"/>
            <a:ext cx="4095750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20F542-C595-F5E6-2087-EDF3E2607AC3}"/>
              </a:ext>
            </a:extLst>
          </p:cNvPr>
          <p:cNvSpPr txBox="1">
            <a:spLocks/>
          </p:cNvSpPr>
          <p:nvPr/>
        </p:nvSpPr>
        <p:spPr>
          <a:xfrm>
            <a:off x="4103775" y="462043"/>
            <a:ext cx="4294816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200" dirty="0">
                <a:solidFill>
                  <a:srgbClr val="38AA00"/>
                </a:solidFill>
                <a:latin typeface="Work Sans Light" pitchFamily="2" charset="77"/>
              </a:rPr>
              <a:t>Manuales y planes</a:t>
            </a:r>
          </a:p>
        </p:txBody>
      </p:sp>
      <p:pic>
        <p:nvPicPr>
          <p:cNvPr id="12" name="Imagen 11" descr="Icono&#10;&#10;El contenido generado por IA puede ser incorrecto.">
            <a:hlinkClick r:id="rId2" action="ppaction://hlinkfile"/>
            <a:extLst>
              <a:ext uri="{FF2B5EF4-FFF2-40B4-BE49-F238E27FC236}">
                <a16:creationId xmlns:a16="http://schemas.microsoft.com/office/drawing/2014/main" id="{6D411FDD-FAE4-9EB7-9FE0-DE3FDB87D1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580464" y="4244334"/>
            <a:ext cx="1360409" cy="1360409"/>
          </a:xfrm>
          <a:prstGeom prst="rect">
            <a:avLst/>
          </a:prstGeom>
        </p:spPr>
      </p:pic>
      <p:pic>
        <p:nvPicPr>
          <p:cNvPr id="14" name="Imagen 13" descr="Icono&#10;&#10;El contenido generado por IA puede ser incorrecto.">
            <a:hlinkClick r:id="rId5" action="ppaction://hlinkfile"/>
            <a:extLst>
              <a:ext uri="{FF2B5EF4-FFF2-40B4-BE49-F238E27FC236}">
                <a16:creationId xmlns:a16="http://schemas.microsoft.com/office/drawing/2014/main" id="{4613128D-2585-8232-88DE-47141F7DB5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209007" y="4244335"/>
            <a:ext cx="1360409" cy="1360409"/>
          </a:xfrm>
          <a:prstGeom prst="rect">
            <a:avLst/>
          </a:prstGeom>
        </p:spPr>
      </p:pic>
      <p:pic>
        <p:nvPicPr>
          <p:cNvPr id="16" name="Imagen 15" descr="Icono&#10;&#10;El contenido generado por IA puede ser incorrecto.">
            <a:hlinkClick r:id="rId6" action="ppaction://hlinkfile"/>
            <a:extLst>
              <a:ext uri="{FF2B5EF4-FFF2-40B4-BE49-F238E27FC236}">
                <a16:creationId xmlns:a16="http://schemas.microsoft.com/office/drawing/2014/main" id="{0F489B8E-359B-F648-C7FE-3FB08FE522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209007" y="1587124"/>
            <a:ext cx="1360409" cy="1360409"/>
          </a:xfrm>
          <a:prstGeom prst="rect">
            <a:avLst/>
          </a:prstGeom>
        </p:spPr>
      </p:pic>
      <p:pic>
        <p:nvPicPr>
          <p:cNvPr id="17" name="Imagen 16" descr="Icono&#10;&#10;El contenido generado por IA puede ser incorrecto.">
            <a:hlinkClick r:id="rId7" action="ppaction://hlinkfile"/>
            <a:extLst>
              <a:ext uri="{FF2B5EF4-FFF2-40B4-BE49-F238E27FC236}">
                <a16:creationId xmlns:a16="http://schemas.microsoft.com/office/drawing/2014/main" id="{F11E4A3A-6252-835A-89B3-89E7D814ED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802686" y="1587125"/>
            <a:ext cx="1360409" cy="1360409"/>
          </a:xfrm>
          <a:prstGeom prst="rect">
            <a:avLst/>
          </a:prstGeom>
        </p:spPr>
      </p:pic>
      <p:pic>
        <p:nvPicPr>
          <p:cNvPr id="18" name="Imagen 17" descr="Icono&#10;&#10;El contenido generado por IA puede ser incorrecto.">
            <a:hlinkClick r:id="rId8" action="ppaction://hlinkfile"/>
            <a:extLst>
              <a:ext uri="{FF2B5EF4-FFF2-40B4-BE49-F238E27FC236}">
                <a16:creationId xmlns:a16="http://schemas.microsoft.com/office/drawing/2014/main" id="{C96496C9-6494-8F6B-7765-AEF0C7298A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9078795" y="1587125"/>
            <a:ext cx="1360409" cy="1360409"/>
          </a:xfrm>
          <a:prstGeom prst="rect">
            <a:avLst/>
          </a:prstGeom>
        </p:spPr>
      </p:pic>
      <p:pic>
        <p:nvPicPr>
          <p:cNvPr id="19" name="Imagen 18" descr="Icono&#10;&#10;El contenido generado por IA puede ser incorrecto.">
            <a:hlinkClick r:id="rId9" action="ppaction://hlinkfile"/>
            <a:extLst>
              <a:ext uri="{FF2B5EF4-FFF2-40B4-BE49-F238E27FC236}">
                <a16:creationId xmlns:a16="http://schemas.microsoft.com/office/drawing/2014/main" id="{70A353A8-1F4F-95C0-EBC0-ACADA32A63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038182" y="4244334"/>
            <a:ext cx="1360409" cy="1360409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FD4EFD50-0413-6A06-919B-F07DB4703FD7}"/>
              </a:ext>
            </a:extLst>
          </p:cNvPr>
          <p:cNvSpPr txBox="1"/>
          <p:nvPr/>
        </p:nvSpPr>
        <p:spPr>
          <a:xfrm>
            <a:off x="1580464" y="5759638"/>
            <a:ext cx="1625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INSTALACION</a:t>
            </a:r>
            <a:endParaRPr lang="es-CO" b="1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6197E21-386A-D610-2D02-ECF0A6418738}"/>
              </a:ext>
            </a:extLst>
          </p:cNvPr>
          <p:cNvSpPr txBox="1"/>
          <p:nvPr/>
        </p:nvSpPr>
        <p:spPr>
          <a:xfrm>
            <a:off x="4301282" y="3102429"/>
            <a:ext cx="1201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RESPALDO</a:t>
            </a:r>
            <a:endParaRPr lang="es-CO" b="1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30E10E54-0194-393F-9EFA-1E8826D1CB78}"/>
              </a:ext>
            </a:extLst>
          </p:cNvPr>
          <p:cNvSpPr txBox="1"/>
          <p:nvPr/>
        </p:nvSpPr>
        <p:spPr>
          <a:xfrm>
            <a:off x="6802685" y="3102429"/>
            <a:ext cx="1360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MIGRACION</a:t>
            </a:r>
            <a:endParaRPr lang="es-CO" b="1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43975BB-098E-4049-0FED-87CE597F435A}"/>
              </a:ext>
            </a:extLst>
          </p:cNvPr>
          <p:cNvSpPr txBox="1"/>
          <p:nvPr/>
        </p:nvSpPr>
        <p:spPr>
          <a:xfrm>
            <a:off x="8946479" y="3102429"/>
            <a:ext cx="1625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CAPACITACION</a:t>
            </a:r>
            <a:endParaRPr lang="es-CO" b="1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F3BCDF6B-04D5-4B02-8581-CAF5F1E2C79F}"/>
              </a:ext>
            </a:extLst>
          </p:cNvPr>
          <p:cNvSpPr txBox="1"/>
          <p:nvPr/>
        </p:nvSpPr>
        <p:spPr>
          <a:xfrm>
            <a:off x="4388620" y="5762585"/>
            <a:ext cx="1360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TECNICO</a:t>
            </a:r>
            <a:endParaRPr lang="es-CO" b="1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1F83E34-4A40-3D5C-2430-06B0167424C5}"/>
              </a:ext>
            </a:extLst>
          </p:cNvPr>
          <p:cNvSpPr txBox="1"/>
          <p:nvPr/>
        </p:nvSpPr>
        <p:spPr>
          <a:xfrm>
            <a:off x="7168810" y="5762585"/>
            <a:ext cx="1360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USUARIOS</a:t>
            </a:r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3456152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65FDE73-C641-1100-C209-6B5902DCC3EC}"/>
              </a:ext>
            </a:extLst>
          </p:cNvPr>
          <p:cNvSpPr/>
          <p:nvPr/>
        </p:nvSpPr>
        <p:spPr>
          <a:xfrm>
            <a:off x="953922" y="1019572"/>
            <a:ext cx="4095750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E37A3CD-1BAC-6175-4755-9AC66A46B6FF}"/>
              </a:ext>
            </a:extLst>
          </p:cNvPr>
          <p:cNvSpPr txBox="1">
            <a:spLocks/>
          </p:cNvSpPr>
          <p:nvPr/>
        </p:nvSpPr>
        <p:spPr>
          <a:xfrm>
            <a:off x="854389" y="771861"/>
            <a:ext cx="4294816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200" dirty="0">
                <a:solidFill>
                  <a:srgbClr val="38AA00"/>
                </a:solidFill>
                <a:latin typeface="Work Sans Light" pitchFamily="2" charset="77"/>
              </a:rPr>
              <a:t>Despliegue</a:t>
            </a:r>
          </a:p>
        </p:txBody>
      </p:sp>
      <p:sp>
        <p:nvSpPr>
          <p:cNvPr id="7" name="CuadroTexto 6">
            <a:hlinkClick r:id="rId2"/>
            <a:extLst>
              <a:ext uri="{FF2B5EF4-FFF2-40B4-BE49-F238E27FC236}">
                <a16:creationId xmlns:a16="http://schemas.microsoft.com/office/drawing/2014/main" id="{FBAA83CA-F5E1-3945-40AB-1CB1B233A0BF}"/>
              </a:ext>
            </a:extLst>
          </p:cNvPr>
          <p:cNvSpPr txBox="1"/>
          <p:nvPr/>
        </p:nvSpPr>
        <p:spPr>
          <a:xfrm>
            <a:off x="574229" y="1614525"/>
            <a:ext cx="55217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dirty="0">
                <a:latin typeface="Work Sans Light" pitchFamily="2" charset="77"/>
                <a:hlinkClick r:id="rId2"/>
              </a:rPr>
              <a:t>https://hqt8rl0q-5173.use2.devtunnels.ms/</a:t>
            </a:r>
            <a:endParaRPr lang="es-CO" sz="3000" dirty="0">
              <a:latin typeface="Work Sans Light" pitchFamily="2" charset="77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F090E5F-98B1-B495-7C28-7A1F2C42F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717" y="-286537"/>
            <a:ext cx="4336700" cy="451941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D8CCB62-96D2-CBD1-1210-CBC65C1E5C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0635" y="3390398"/>
            <a:ext cx="12192000" cy="4896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218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65FDE73-C641-1100-C209-6B5902DCC3EC}"/>
              </a:ext>
            </a:extLst>
          </p:cNvPr>
          <p:cNvSpPr/>
          <p:nvPr/>
        </p:nvSpPr>
        <p:spPr>
          <a:xfrm>
            <a:off x="669320" y="1110397"/>
            <a:ext cx="4380352" cy="3380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E37A3CD-1BAC-6175-4755-9AC66A46B6FF}"/>
              </a:ext>
            </a:extLst>
          </p:cNvPr>
          <p:cNvSpPr txBox="1">
            <a:spLocks/>
          </p:cNvSpPr>
          <p:nvPr/>
        </p:nvSpPr>
        <p:spPr>
          <a:xfrm>
            <a:off x="390322" y="825999"/>
            <a:ext cx="4883810" cy="67659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200" dirty="0">
                <a:solidFill>
                  <a:srgbClr val="38AA00"/>
                </a:solidFill>
                <a:latin typeface="Work Sans Light"/>
              </a:rPr>
              <a:t>GitHub</a:t>
            </a:r>
            <a:endParaRPr lang="es-CO" sz="3200" dirty="0">
              <a:solidFill>
                <a:srgbClr val="38AA00"/>
              </a:solidFill>
              <a:latin typeface="Work Sans Light" pitchFamily="2" charset="77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BAA83CA-F5E1-3945-40AB-1CB1B233A0BF}"/>
              </a:ext>
            </a:extLst>
          </p:cNvPr>
          <p:cNvSpPr txBox="1"/>
          <p:nvPr/>
        </p:nvSpPr>
        <p:spPr>
          <a:xfrm>
            <a:off x="1832999" y="2160867"/>
            <a:ext cx="2330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dirty="0">
                <a:latin typeface="Work Sans Light" pitchFamily="2" charset="77"/>
                <a:hlinkClick r:id="rId2"/>
              </a:rPr>
              <a:t>Repositório </a:t>
            </a:r>
            <a:endParaRPr lang="pt-BR" sz="3000" dirty="0">
              <a:latin typeface="Work Sans Light" pitchFamily="2" charset="77"/>
            </a:endParaRPr>
          </a:p>
          <a:p>
            <a:endParaRPr lang="es-CO" sz="3000" dirty="0">
              <a:latin typeface="Work Sans Light" pitchFamily="2" charset="77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95CF6AA-5A2A-4D3F-B4C1-078E76086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4330" y="0"/>
            <a:ext cx="7037670" cy="7136967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B333C85-3713-45A2-AC40-30398842F29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875" t="53681" r="52723" b="21905"/>
          <a:stretch/>
        </p:blipFill>
        <p:spPr>
          <a:xfrm>
            <a:off x="5163975" y="4759"/>
            <a:ext cx="7037670" cy="2832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680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A01EB75E-8874-42DD-11A3-2D5CA1D23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220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21270"/>
    </mc:Choice>
    <mc:Fallback xmlns="">
      <p:transition spd="slow" advTm="3221270"/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5245</TotalTime>
  <Words>650</Words>
  <Application>Microsoft Office PowerPoint</Application>
  <PresentationFormat>Panorámica</PresentationFormat>
  <Paragraphs>61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Verdana</vt:lpstr>
      <vt:lpstr>Work Sans Light</vt:lpstr>
      <vt:lpstr>Work Sans Medium</vt:lpstr>
      <vt:lpstr>Tema de Office</vt:lpstr>
      <vt:lpstr>Presentación de PowerPoint</vt:lpstr>
      <vt:lpstr>Presentación de PowerPoint</vt:lpstr>
      <vt:lpstr>Contextualización  </vt:lpstr>
      <vt:lpstr>Presentación de PowerPoint</vt:lpstr>
      <vt:lpstr>Solución planteada </vt:lpstr>
      <vt:lpstr>Alcance durante esta presentación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Miguel Esteban Montaño Coronado</cp:lastModifiedBy>
  <cp:revision>156</cp:revision>
  <dcterms:created xsi:type="dcterms:W3CDTF">2020-10-01T23:51:28Z</dcterms:created>
  <dcterms:modified xsi:type="dcterms:W3CDTF">2025-07-09T14:55:20Z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